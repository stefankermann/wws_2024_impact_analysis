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1.xml" ContentType="application/vnd.openxmlformats-officedocument.drawingml.chartshapes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3" r:id="rId4"/>
    <p:sldId id="269" r:id="rId5"/>
    <p:sldId id="272" r:id="rId6"/>
    <p:sldId id="264" r:id="rId7"/>
    <p:sldId id="266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0C00"/>
    <a:srgbClr val="240C00"/>
    <a:srgbClr val="2100C0"/>
    <a:srgbClr val="422100"/>
    <a:srgbClr val="180C00"/>
    <a:srgbClr val="663300"/>
    <a:srgbClr val="2E1700"/>
    <a:srgbClr val="FF6600"/>
    <a:srgbClr val="FF0D0D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36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k\Documents\%23%23%23Coaching%20-%2006-2025\%23%23%23Data%20Analyst\Python%20Projekt%20III%20-%20ESG-Analyse\ESG-Analyse%20-%20Zusammenfassung%20Ergebnisse%20-%20Auswertunge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k\Documents\%23%23%23Coaching%20-%2006-2025\%23%23%23Data%20Analyst\Python%20Projekt%20I%20-%20Impact%20WWS%202024%20NL\%23%23%23fictief_woningportfolio_nl_final_mit_WWS_final%20-%2015.05.202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k\Documents\%23%23%23Coaching%20-%2006-2025\%23%23%23Data%20Analyst\Python%20Projekt%20I%20-%20Impact%20WWS%202024%20NL\fictief_woningportfolio_nl_final_mit_WWS_final%20-%2015.05.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k\Documents\%23%23%23Coaching%20-%2006-2025\%23%23%23Data%20Analyst\Python%20Projekt%20I%20-%20Impact%20WWS%202024%20NL\fictief_woningportfolio_nl_final_mit_WWS_final%20-%2015.05.202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k\Documents\%23%23%23Coaching%20-%2006-2025\%23%23%23Data%20Analyst\Python%20Projekt%20III%20-%20ESG-Analyse\ESG-Analyse%20-%20Zusammenfassung%20Ergebnisse%20-%20Auswertunge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k\Documents\%23%23%23Coaching%20-%2006-2025\%23%23%23Data%20Analyst\Python%20Projekt%20I%20-%20Impact%20WWS%202024%20NL\%23%23%23fictief_woningportfolio_nl_final_mit_WWS_final%20-%2015.05.2026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k\Documents\%23%23%23Coaching%20-%2006-2025\%23%23%23Data%20Analyst\Python%20Projekt%20I%20-%20Impact%20WWS%202024%20NL\%23%23%23fictief_woningportfolio_nl_final_mit_WWS_%20final.xlsx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154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rgbClr val="422100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solidFill>
                  <a:srgbClr val="422100"/>
                </a:solidFill>
              </a:rPr>
              <a:t>Segments</a:t>
            </a:r>
          </a:p>
        </c:rich>
      </c:tx>
      <c:layout>
        <c:manualLayout>
          <c:xMode val="edge"/>
          <c:yMode val="edge"/>
          <c:x val="0.330238124171162"/>
          <c:y val="3.96024784291224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rgbClr val="422100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6.150792602494131E-2"/>
          <c:y val="0.35764757795906865"/>
          <c:w val="0.87698414795011737"/>
          <c:h val="0.38545685569298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Tabelle4!$B$15</c:f>
              <c:strCache>
                <c:ptCount val="1"/>
                <c:pt idx="0">
                  <c:v>WWS 2022</c:v>
                </c:pt>
              </c:strCache>
            </c:strRef>
          </c:tx>
          <c:spPr>
            <a:solidFill>
              <a:srgbClr val="5D3C17"/>
            </a:solidFill>
            <a:ln w="12700" cap="flat" cmpd="sng" algn="ctr">
              <a:solidFill>
                <a:schemeClr val="bg1"/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2.409150771104944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6B-4B83-B1A7-9261ECC3B2F8}"/>
                </c:ext>
              </c:extLst>
            </c:dLbl>
            <c:dLbl>
              <c:idx val="1"/>
              <c:layout>
                <c:manualLayout>
                  <c:x val="0"/>
                  <c:y val="1.30189249954004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16B-4B83-B1A7-9261ECC3B2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(Tabelle4!$A$16,Tabelle4!$A$18)</c:f>
              <c:strCache>
                <c:ptCount val="2"/>
                <c:pt idx="0">
                  <c:v>sociaal</c:v>
                </c:pt>
                <c:pt idx="1">
                  <c:v>vrij</c:v>
                </c:pt>
              </c:strCache>
              <c:extLst/>
            </c:strRef>
          </c:cat>
          <c:val>
            <c:numRef>
              <c:f>(Tabelle4!$B$16,Tabelle4!$B$18)</c:f>
              <c:numCache>
                <c:formatCode>General</c:formatCode>
                <c:ptCount val="2"/>
                <c:pt idx="0">
                  <c:v>987</c:v>
                </c:pt>
                <c:pt idx="1">
                  <c:v>513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A16B-4B83-B1A7-9261ECC3B2F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29651792"/>
        <c:axId val="329652752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Tabelle4!$C$15</c15:sqref>
                        </c15:formulaRef>
                      </c:ext>
                    </c:extLst>
                    <c:strCache>
                      <c:ptCount val="1"/>
                      <c:pt idx="0">
                        <c:v>WWS 2024</c:v>
                      </c:pt>
                    </c:strCache>
                  </c:strRef>
                </c:tx>
                <c:spPr>
                  <a:solidFill>
                    <a:srgbClr val="FFC000">
                      <a:alpha val="85000"/>
                    </a:srgb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200" b="1" i="0" u="none" strike="noStrike" kern="12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de-DE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(Tabelle4!$A$16,Tabelle4!$A$18)</c15:sqref>
                        </c15:formulaRef>
                      </c:ext>
                    </c:extLst>
                    <c:strCache>
                      <c:ptCount val="2"/>
                      <c:pt idx="0">
                        <c:v>sociaal</c:v>
                      </c:pt>
                      <c:pt idx="1">
                        <c:v>vrij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(Tabelle4!$C$16,Tabelle4!$C$18)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998</c:v>
                      </c:pt>
                      <c:pt idx="1">
                        <c:v>56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A16B-4B83-B1A7-9261ECC3B2F8}"/>
                  </c:ext>
                </c:extLst>
              </c15:ser>
            </c15:filteredBarSeries>
          </c:ext>
        </c:extLst>
      </c:barChart>
      <c:catAx>
        <c:axId val="329651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cap="all" baseline="0">
                <a:solidFill>
                  <a:srgbClr val="422100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29652752"/>
        <c:crosses val="autoZero"/>
        <c:auto val="1"/>
        <c:lblAlgn val="ctr"/>
        <c:lblOffset val="100"/>
        <c:noMultiLvlLbl val="0"/>
      </c:catAx>
      <c:valAx>
        <c:axId val="32965275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29651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422100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</c:legendEntry>
      <c:layout>
        <c:manualLayout>
          <c:xMode val="edge"/>
          <c:yMode val="edge"/>
          <c:x val="0.17296759672638706"/>
          <c:y val="0.15753626849025165"/>
          <c:w val="0.61955596896541776"/>
          <c:h val="0.13103560424512153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bg1">
            <a:lumMod val="75000"/>
          </a:schemeClr>
        </a:gs>
        <a:gs pos="33000">
          <a:schemeClr val="bg1">
            <a:lumMod val="95000"/>
          </a:schemeClr>
        </a:gs>
        <a:gs pos="67000">
          <a:schemeClr val="bg1">
            <a:lumMod val="95000"/>
          </a:schemeClr>
        </a:gs>
        <a:gs pos="100000">
          <a:schemeClr val="bg1">
            <a:lumMod val="75000"/>
          </a:schemeClr>
        </a:gs>
      </a:gsLst>
      <a:lin ang="5400000" scaled="1"/>
      <a:tileRect/>
    </a:gradFill>
    <a:ln w="9525" cap="flat" cmpd="sng" algn="ctr">
      <a:noFill/>
      <a:round/>
    </a:ln>
    <a:effectLst>
      <a:softEdge rad="63500"/>
    </a:effectLst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rgbClr val="422100"/>
                </a:solidFill>
                <a:latin typeface="+mn-lt"/>
                <a:ea typeface="+mn-ea"/>
                <a:cs typeface="+mn-cs"/>
              </a:defRPr>
            </a:pPr>
            <a:r>
              <a:rPr lang="en-US" sz="1200" b="1">
                <a:solidFill>
                  <a:srgbClr val="422100"/>
                </a:solidFill>
                <a:latin typeface="Aptos" panose="020B0004020202020204" pitchFamily="34" charset="0"/>
              </a:rPr>
              <a:t>Energy label</a:t>
            </a:r>
          </a:p>
        </c:rich>
      </c:tx>
      <c:layout>
        <c:manualLayout>
          <c:xMode val="edge"/>
          <c:yMode val="edge"/>
          <c:x val="0.31841624447694872"/>
          <c:y val="1.76168723289835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baseline="0">
              <a:solidFill>
                <a:srgbClr val="422100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20126584890403273"/>
          <c:y val="0.2312374759826554"/>
          <c:w val="0.60241233098947156"/>
          <c:h val="0.70101786876845895"/>
        </c:manualLayout>
      </c:layout>
      <c:doughnutChart>
        <c:varyColors val="1"/>
        <c:ser>
          <c:idx val="0"/>
          <c:order val="0"/>
          <c:tx>
            <c:strRef>
              <c:f>Tabelle4!$B$21</c:f>
              <c:strCache>
                <c:ptCount val="1"/>
              </c:strCache>
            </c:strRef>
          </c:tx>
          <c:explosion val="5"/>
          <c:dPt>
            <c:idx val="0"/>
            <c:bubble3D val="0"/>
            <c:spPr>
              <a:solidFill>
                <a:srgbClr val="008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813-4F4E-B6EE-98E31341CAAF}"/>
              </c:ext>
            </c:extLst>
          </c:dPt>
          <c:dPt>
            <c:idx val="1"/>
            <c:bubble3D val="0"/>
            <c:spPr>
              <a:solidFill>
                <a:srgbClr val="33CC3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813-4F4E-B6EE-98E31341CAAF}"/>
              </c:ext>
            </c:extLst>
          </c:dPt>
          <c:dPt>
            <c:idx val="2"/>
            <c:bubble3D val="0"/>
            <c:spPr>
              <a:solidFill>
                <a:srgbClr val="00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813-4F4E-B6EE-98E31341CAAF}"/>
              </c:ext>
            </c:extLst>
          </c:dPt>
          <c:dPt>
            <c:idx val="3"/>
            <c:bubble3D val="0"/>
            <c:spPr>
              <a:solidFill>
                <a:srgbClr val="66FF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813-4F4E-B6EE-98E31341CAAF}"/>
              </c:ext>
            </c:extLst>
          </c:dPt>
          <c:dPt>
            <c:idx val="4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813-4F4E-B6EE-98E31341CAAF}"/>
              </c:ext>
            </c:extLst>
          </c:dPt>
          <c:dPt>
            <c:idx val="5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813-4F4E-B6EE-98E31341CAAF}"/>
              </c:ext>
            </c:extLst>
          </c:dPt>
          <c:dPt>
            <c:idx val="6"/>
            <c:bubble3D val="0"/>
            <c:spPr>
              <a:solidFill>
                <a:srgbClr val="FF66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813-4F4E-B6EE-98E31341CAAF}"/>
              </c:ext>
            </c:extLst>
          </c:dPt>
          <c:dPt>
            <c:idx val="7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1813-4F4E-B6EE-98E31341CAAF}"/>
              </c:ext>
            </c:extLst>
          </c:dPt>
          <c:dPt>
            <c:idx val="8"/>
            <c:bubble3D val="0"/>
            <c:spPr>
              <a:solidFill>
                <a:srgbClr val="CC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1813-4F4E-B6EE-98E31341CAAF}"/>
              </c:ext>
            </c:extLst>
          </c:dPt>
          <c:dPt>
            <c:idx val="9"/>
            <c:bubble3D val="0"/>
            <c:spPr>
              <a:solidFill>
                <a:srgbClr val="99003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1813-4F4E-B6EE-98E31341CAAF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813-4F4E-B6EE-98E31341CAAF}"/>
                </c:ext>
              </c:extLst>
            </c:dLbl>
            <c:dLbl>
              <c:idx val="1"/>
              <c:layout>
                <c:manualLayout>
                  <c:x val="-6.9085114360704983E-2"/>
                  <c:y val="-0.18804736037742117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813-4F4E-B6EE-98E31341CAAF}"/>
                </c:ext>
              </c:extLst>
            </c:dLbl>
            <c:dLbl>
              <c:idx val="2"/>
              <c:layout>
                <c:manualLayout>
                  <c:x val="8.380827648874678E-2"/>
                  <c:y val="-0.2021090411229493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813-4F4E-B6EE-98E31341CAAF}"/>
                </c:ext>
              </c:extLst>
            </c:dLbl>
            <c:dLbl>
              <c:idx val="3"/>
              <c:layout>
                <c:manualLayout>
                  <c:x val="0.20858787029117173"/>
                  <c:y val="-7.0925523465982049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813-4F4E-B6EE-98E31341CAAF}"/>
                </c:ext>
              </c:extLst>
            </c:dLbl>
            <c:dLbl>
              <c:idx val="4"/>
              <c:layout>
                <c:manualLayout>
                  <c:x val="0.18298629617531739"/>
                  <c:y val="7.6787545095523449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813-4F4E-B6EE-98E31341CAAF}"/>
                </c:ext>
              </c:extLst>
            </c:dLbl>
            <c:dLbl>
              <c:idx val="5"/>
              <c:layout>
                <c:manualLayout>
                  <c:x val="-0.17335480326861083"/>
                  <c:y val="9.7392286088764393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813-4F4E-B6EE-98E31341CAAF}"/>
                </c:ext>
              </c:extLst>
            </c:dLbl>
            <c:dLbl>
              <c:idx val="6"/>
              <c:layout>
                <c:manualLayout>
                  <c:x val="-0.17212337062929983"/>
                  <c:y val="1.1307689763638974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813-4F4E-B6EE-98E31341CAAF}"/>
                </c:ext>
              </c:extLst>
            </c:dLbl>
            <c:dLbl>
              <c:idx val="7"/>
              <c:layout>
                <c:manualLayout>
                  <c:x val="-0.17643649946098056"/>
                  <c:y val="-3.55907485256601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1" i="0" u="none" strike="noStrike" baseline="0">
                      <a:solidFill>
                        <a:srgbClr val="4221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0532811405447175E-2"/>
                      <c:h val="0.1100842293658811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1813-4F4E-B6EE-98E31341CAAF}"/>
                </c:ext>
              </c:extLst>
            </c:dLbl>
            <c:dLbl>
              <c:idx val="8"/>
              <c:layout>
                <c:manualLayout>
                  <c:x val="-0.19226953853005954"/>
                  <c:y val="-9.83697427442814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1" i="0" u="none" strike="noStrike" baseline="0">
                      <a:solidFill>
                        <a:srgbClr val="4221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8247422680412365E-2"/>
                      <c:h val="9.563561804335091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1813-4F4E-B6EE-98E31341CAAF}"/>
                </c:ext>
              </c:extLst>
            </c:dLbl>
            <c:dLbl>
              <c:idx val="9"/>
              <c:layout>
                <c:manualLayout>
                  <c:x val="-0.16590080095680332"/>
                  <c:y val="-0.1369368071440642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813-4F4E-B6EE-98E31341CA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baseline="0">
                    <a:solidFill>
                      <a:srgbClr val="422100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rgbClr val="422100"/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Tabelle4!$A$22:$A$31</c:f>
              <c:strCache>
                <c:ptCount val="10"/>
                <c:pt idx="0">
                  <c:v>A+++</c:v>
                </c:pt>
                <c:pt idx="1">
                  <c:v>A++</c:v>
                </c:pt>
                <c:pt idx="2">
                  <c:v>A+</c:v>
                </c:pt>
                <c:pt idx="3">
                  <c:v>A</c:v>
                </c:pt>
                <c:pt idx="4">
                  <c:v>B</c:v>
                </c:pt>
                <c:pt idx="5">
                  <c:v>C</c:v>
                </c:pt>
                <c:pt idx="6">
                  <c:v>D</c:v>
                </c:pt>
                <c:pt idx="7">
                  <c:v>E</c:v>
                </c:pt>
                <c:pt idx="8">
                  <c:v>F</c:v>
                </c:pt>
                <c:pt idx="9">
                  <c:v>G</c:v>
                </c:pt>
              </c:strCache>
            </c:strRef>
          </c:cat>
          <c:val>
            <c:numRef>
              <c:f>Tabelle4!$B$22:$B$31</c:f>
              <c:numCache>
                <c:formatCode>General</c:formatCode>
                <c:ptCount val="10"/>
                <c:pt idx="0">
                  <c:v>0</c:v>
                </c:pt>
                <c:pt idx="1">
                  <c:v>13</c:v>
                </c:pt>
                <c:pt idx="2">
                  <c:v>17</c:v>
                </c:pt>
                <c:pt idx="3">
                  <c:v>390</c:v>
                </c:pt>
                <c:pt idx="4">
                  <c:v>439</c:v>
                </c:pt>
                <c:pt idx="5">
                  <c:v>266</c:v>
                </c:pt>
                <c:pt idx="6">
                  <c:v>196</c:v>
                </c:pt>
                <c:pt idx="7">
                  <c:v>105</c:v>
                </c:pt>
                <c:pt idx="8">
                  <c:v>48</c:v>
                </c:pt>
                <c:pt idx="9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813-4F4E-B6EE-98E31341C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4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>
      <a:gsLst>
        <a:gs pos="0">
          <a:schemeClr val="bg1">
            <a:lumMod val="75000"/>
          </a:schemeClr>
        </a:gs>
        <a:gs pos="33000">
          <a:schemeClr val="bg1">
            <a:lumMod val="95000"/>
          </a:schemeClr>
        </a:gs>
        <a:gs pos="67000">
          <a:schemeClr val="bg1">
            <a:lumMod val="95000"/>
          </a:schemeClr>
        </a:gs>
        <a:gs pos="100000">
          <a:schemeClr val="bg1">
            <a:lumMod val="75000"/>
          </a:schemeClr>
        </a:gs>
      </a:gsLst>
      <a:lin ang="5400000" scaled="1"/>
    </a:gradFill>
    <a:ln>
      <a:noFill/>
    </a:ln>
    <a:effectLst>
      <a:softEdge rad="63500"/>
    </a:effectLst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526118559965808E-2"/>
          <c:y val="0.12686852234533874"/>
          <c:w val="0.93888888888888888"/>
          <c:h val="0.7097175099278720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2">
                <a:lumMod val="75000"/>
              </a:schemeClr>
            </a:solidFill>
            <a:ln w="12700">
              <a:solidFill>
                <a:schemeClr val="bg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Pt>
            <c:idx val="1"/>
            <c:invertIfNegative val="0"/>
            <c:bubble3D val="0"/>
            <c:spPr>
              <a:solidFill>
                <a:schemeClr val="tx2">
                  <a:lumMod val="75000"/>
                  <a:alpha val="90000"/>
                </a:schemeClr>
              </a:solidFill>
              <a:ln w="12700">
                <a:solidFill>
                  <a:schemeClr val="bg1"/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520-4B35-A954-876EEC4F86C5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75000"/>
                  <a:alpha val="80000"/>
                </a:schemeClr>
              </a:solidFill>
              <a:ln w="12700">
                <a:solidFill>
                  <a:schemeClr val="bg1"/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520-4B35-A954-876EEC4F86C5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>
                  <a:lumMod val="75000"/>
                  <a:alpha val="70000"/>
                </a:schemeClr>
              </a:solidFill>
              <a:ln w="12700">
                <a:solidFill>
                  <a:schemeClr val="bg1"/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520-4B35-A954-876EEC4F86C5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>
                  <a:lumMod val="75000"/>
                  <a:alpha val="60000"/>
                </a:schemeClr>
              </a:solidFill>
              <a:ln w="12700">
                <a:solidFill>
                  <a:schemeClr val="bg1"/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520-4B35-A954-876EEC4F86C5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>
                  <a:lumMod val="75000"/>
                  <a:alpha val="50000"/>
                </a:schemeClr>
              </a:solidFill>
              <a:ln w="12700">
                <a:solidFill>
                  <a:schemeClr val="bg1"/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F520-4B35-A954-876EEC4F86C5}"/>
              </c:ext>
            </c:extLst>
          </c:dPt>
          <c:dPt>
            <c:idx val="6"/>
            <c:invertIfNegative val="0"/>
            <c:bubble3D val="0"/>
            <c:spPr>
              <a:solidFill>
                <a:schemeClr val="tx2">
                  <a:lumMod val="75000"/>
                  <a:alpha val="40000"/>
                </a:schemeClr>
              </a:solidFill>
              <a:ln w="12700">
                <a:solidFill>
                  <a:schemeClr val="bg1"/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F520-4B35-A954-876EEC4F86C5}"/>
              </c:ext>
            </c:extLst>
          </c:dPt>
          <c:dPt>
            <c:idx val="7"/>
            <c:invertIfNegative val="0"/>
            <c:bubble3D val="0"/>
            <c:spPr>
              <a:solidFill>
                <a:schemeClr val="tx2">
                  <a:lumMod val="75000"/>
                  <a:alpha val="30000"/>
                </a:schemeClr>
              </a:solidFill>
              <a:ln w="12700">
                <a:solidFill>
                  <a:schemeClr val="bg1"/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F520-4B35-A954-876EEC4F86C5}"/>
              </c:ext>
            </c:extLst>
          </c:dPt>
          <c:dPt>
            <c:idx val="8"/>
            <c:invertIfNegative val="0"/>
            <c:bubble3D val="0"/>
            <c:spPr>
              <a:solidFill>
                <a:schemeClr val="tx2">
                  <a:lumMod val="75000"/>
                  <a:alpha val="20000"/>
                </a:schemeClr>
              </a:solidFill>
              <a:ln w="12700">
                <a:solidFill>
                  <a:schemeClr val="bg1"/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F520-4B35-A954-876EEC4F86C5}"/>
              </c:ext>
            </c:extLst>
          </c:dPt>
          <c:cat>
            <c:strRef>
              <c:f>Tabelle4!$A$3:$A$10</c:f>
              <c:strCache>
                <c:ptCount val="8"/>
                <c:pt idx="0">
                  <c:v>- 40 m²</c:v>
                </c:pt>
                <c:pt idx="1">
                  <c:v>- 50 m²</c:v>
                </c:pt>
                <c:pt idx="2">
                  <c:v>- 60 m²</c:v>
                </c:pt>
                <c:pt idx="3">
                  <c:v>- 70 m²</c:v>
                </c:pt>
                <c:pt idx="4">
                  <c:v>- 80 m²</c:v>
                </c:pt>
                <c:pt idx="5">
                  <c:v>- 90 m²</c:v>
                </c:pt>
                <c:pt idx="6">
                  <c:v>- 100 m²</c:v>
                </c:pt>
                <c:pt idx="7">
                  <c:v>&gt; 100 m²</c:v>
                </c:pt>
              </c:strCache>
            </c:strRef>
          </c:cat>
          <c:val>
            <c:numRef>
              <c:f>Tabelle4!$B$3:$B$10</c:f>
              <c:numCache>
                <c:formatCode>General</c:formatCode>
                <c:ptCount val="8"/>
                <c:pt idx="0">
                  <c:v>98</c:v>
                </c:pt>
                <c:pt idx="1">
                  <c:v>125</c:v>
                </c:pt>
                <c:pt idx="2">
                  <c:v>214</c:v>
                </c:pt>
                <c:pt idx="3">
                  <c:v>305</c:v>
                </c:pt>
                <c:pt idx="4">
                  <c:v>287</c:v>
                </c:pt>
                <c:pt idx="5">
                  <c:v>229</c:v>
                </c:pt>
                <c:pt idx="6">
                  <c:v>139</c:v>
                </c:pt>
                <c:pt idx="7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520-4B35-A954-876EEC4F86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4"/>
        <c:axId val="197707648"/>
        <c:axId val="197708128"/>
      </c:barChart>
      <c:catAx>
        <c:axId val="19770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>
            <a:softEdge rad="63500"/>
          </a:effectLst>
        </c:spPr>
        <c:txPr>
          <a:bodyPr rot="-60000000" spcFirstLastPara="1" vertOverflow="ellipsis" vert="horz" wrap="square" anchor="ctr" anchorCtr="1"/>
          <a:lstStyle/>
          <a:p>
            <a:pPr>
              <a:defRPr sz="6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97708128"/>
        <c:crosses val="autoZero"/>
        <c:auto val="1"/>
        <c:lblAlgn val="ctr"/>
        <c:lblOffset val="100"/>
        <c:noMultiLvlLbl val="0"/>
      </c:catAx>
      <c:valAx>
        <c:axId val="1977081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7707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>
      <a:gsLst>
        <a:gs pos="0">
          <a:schemeClr val="bg1">
            <a:lumMod val="75000"/>
          </a:schemeClr>
        </a:gs>
        <a:gs pos="33000">
          <a:schemeClr val="bg1">
            <a:lumMod val="95000"/>
          </a:schemeClr>
        </a:gs>
        <a:gs pos="67000">
          <a:schemeClr val="bg1">
            <a:lumMod val="95000"/>
          </a:schemeClr>
        </a:gs>
        <a:gs pos="100000">
          <a:schemeClr val="bg1">
            <a:lumMod val="75000"/>
          </a:schemeClr>
        </a:gs>
      </a:gsLst>
      <a:lin ang="5400000" scaled="1"/>
    </a:gradFill>
    <a:ln w="9525" cap="flat" cmpd="sng" algn="ctr">
      <a:noFill/>
      <a:round/>
    </a:ln>
    <a:effectLst>
      <a:softEdge rad="63500"/>
    </a:effectLst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154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rgbClr val="422100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solidFill>
                  <a:srgbClr val="422100"/>
                </a:solidFill>
              </a:rPr>
              <a:t>The Shift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rgbClr val="422100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2.781265696880264E-2"/>
          <c:y val="0.35485507246376813"/>
          <c:w val="0.94437468606239472"/>
          <c:h val="0.449145269884742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Tabelle4!$B$15</c:f>
              <c:strCache>
                <c:ptCount val="1"/>
                <c:pt idx="0">
                  <c:v>WWS 2022</c:v>
                </c:pt>
              </c:strCache>
            </c:strRef>
          </c:tx>
          <c:spPr>
            <a:solidFill>
              <a:srgbClr val="5D3C17"/>
            </a:solidFill>
            <a:ln w="9525" cap="flat" cmpd="sng" algn="ctr">
              <a:solidFill>
                <a:schemeClr val="bg1"/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2.5284233608002401E-3"/>
                  <c:y val="-1.03630016224504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46F-43B0-B736-6B9DADDC107C}"/>
                </c:ext>
              </c:extLst>
            </c:dLbl>
            <c:dLbl>
              <c:idx val="2"/>
              <c:layout>
                <c:manualLayout>
                  <c:x val="0"/>
                  <c:y val="1.517288599794584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46F-43B0-B736-6B9DADDC10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Tabelle4!$A$16:$A$18</c:f>
              <c:strCache>
                <c:ptCount val="3"/>
                <c:pt idx="0">
                  <c:v>sociaal</c:v>
                </c:pt>
                <c:pt idx="1">
                  <c:v>middenhuur</c:v>
                </c:pt>
                <c:pt idx="2">
                  <c:v>vrij</c:v>
                </c:pt>
              </c:strCache>
            </c:strRef>
          </c:cat>
          <c:val>
            <c:numRef>
              <c:f>Tabelle4!$B$16:$B$18</c:f>
              <c:numCache>
                <c:formatCode>General</c:formatCode>
                <c:ptCount val="3"/>
                <c:pt idx="0">
                  <c:v>987</c:v>
                </c:pt>
                <c:pt idx="1">
                  <c:v>0</c:v>
                </c:pt>
                <c:pt idx="2">
                  <c:v>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6F-43B0-B736-6B9DADDC107C}"/>
            </c:ext>
          </c:extLst>
        </c:ser>
        <c:ser>
          <c:idx val="1"/>
          <c:order val="1"/>
          <c:tx>
            <c:strRef>
              <c:f>Tabelle4!$C$15</c:f>
              <c:strCache>
                <c:ptCount val="1"/>
                <c:pt idx="0">
                  <c:v>WWS 2024</c:v>
                </c:pt>
              </c:strCache>
            </c:strRef>
          </c:tx>
          <c:spPr>
            <a:solidFill>
              <a:srgbClr val="FFC000">
                <a:alpha val="85000"/>
              </a:srgbClr>
            </a:solidFill>
            <a:ln w="9525" cap="flat" cmpd="sng" algn="ctr">
              <a:solidFill>
                <a:schemeClr val="bg1"/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2.536231884057970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46F-43B0-B736-6B9DADDC107C}"/>
                </c:ext>
              </c:extLst>
            </c:dLbl>
            <c:dLbl>
              <c:idx val="1"/>
              <c:layout>
                <c:manualLayout>
                  <c:x val="0"/>
                  <c:y val="-4.135570010270455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6F-43B0-B736-6B9DADDC10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Tabelle4!$A$16:$A$18</c:f>
              <c:strCache>
                <c:ptCount val="3"/>
                <c:pt idx="0">
                  <c:v>sociaal</c:v>
                </c:pt>
                <c:pt idx="1">
                  <c:v>middenhuur</c:v>
                </c:pt>
                <c:pt idx="2">
                  <c:v>vrij</c:v>
                </c:pt>
              </c:strCache>
            </c:strRef>
          </c:cat>
          <c:val>
            <c:numRef>
              <c:f>Tabelle4!$C$16:$C$18</c:f>
              <c:numCache>
                <c:formatCode>General</c:formatCode>
                <c:ptCount val="3"/>
                <c:pt idx="0">
                  <c:v>998</c:v>
                </c:pt>
                <c:pt idx="1">
                  <c:v>446</c:v>
                </c:pt>
                <c:pt idx="2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6F-43B0-B736-6B9DADDC107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29651792"/>
        <c:axId val="329652752"/>
      </c:barChart>
      <c:catAx>
        <c:axId val="329651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cap="all" baseline="0">
                <a:solidFill>
                  <a:srgbClr val="422100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29652752"/>
        <c:crosses val="autoZero"/>
        <c:auto val="1"/>
        <c:lblAlgn val="ctr"/>
        <c:lblOffset val="100"/>
        <c:noMultiLvlLbl val="0"/>
      </c:catAx>
      <c:valAx>
        <c:axId val="32965275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29651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447635257211332"/>
          <c:y val="0.19683441743695082"/>
          <c:w val="0.34901460174445287"/>
          <c:h val="0.13103560424512153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rgbClr val="422100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bg1">
            <a:lumMod val="75000"/>
          </a:schemeClr>
        </a:gs>
        <a:gs pos="33000">
          <a:schemeClr val="bg1">
            <a:lumMod val="95000"/>
          </a:schemeClr>
        </a:gs>
        <a:gs pos="67000">
          <a:schemeClr val="bg1">
            <a:lumMod val="95000"/>
          </a:schemeClr>
        </a:gs>
        <a:gs pos="100000">
          <a:schemeClr val="bg1">
            <a:lumMod val="75000"/>
          </a:schemeClr>
        </a:gs>
      </a:gsLst>
      <a:lin ang="5400000" scaled="1"/>
      <a:tileRect/>
    </a:gradFill>
    <a:ln w="9525" cap="flat" cmpd="sng" algn="ctr">
      <a:noFill/>
      <a:round/>
    </a:ln>
    <a:effectLst>
      <a:softEdge rad="63500"/>
    </a:effectLst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8963607955445"/>
          <c:y val="0.17837227399631581"/>
          <c:w val="0.83325107877052218"/>
          <c:h val="0.7491639896926809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Tabelle1!$B$4</c:f>
              <c:strCache>
                <c:ptCount val="1"/>
                <c:pt idx="0">
                  <c:v>A+++ to B</c:v>
                </c:pt>
              </c:strCache>
            </c:strRef>
          </c:tx>
          <c:spPr>
            <a:solidFill>
              <a:srgbClr val="00B050"/>
            </a:solidFill>
            <a:ln w="12700"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29916718220582783"/>
                  <c:y val="5.5741335623848689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B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738-4249-87B8-83ED65FCAF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B050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Tabelle1!$C$4</c:f>
              <c:numCache>
                <c:formatCode>#,##0_ ;[Red]\-#,##0\ </c:formatCode>
                <c:ptCount val="1"/>
                <c:pt idx="0">
                  <c:v>3051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38-4249-87B8-83ED65FCAFDC}"/>
            </c:ext>
          </c:extLst>
        </c:ser>
        <c:ser>
          <c:idx val="1"/>
          <c:order val="1"/>
          <c:tx>
            <c:strRef>
              <c:f>Tabelle1!$B$5</c:f>
              <c:strCache>
                <c:ptCount val="1"/>
                <c:pt idx="0">
                  <c:v>E to G</c:v>
                </c:pt>
              </c:strCache>
            </c:strRef>
          </c:tx>
          <c:spPr>
            <a:solidFill>
              <a:srgbClr val="FF0000"/>
            </a:solidFill>
            <a:ln w="12700"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18146206133796122"/>
                  <c:y val="5.57457247053938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738-4249-87B8-83ED65FCAF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Tabelle1!$C$5</c:f>
              <c:numCache>
                <c:formatCode>#,##0_ ;[Red]\-#,##0\ </c:formatCode>
                <c:ptCount val="1"/>
                <c:pt idx="0">
                  <c:v>-1242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38-4249-87B8-83ED65FCAF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94577168"/>
        <c:axId val="1094581008"/>
      </c:barChart>
      <c:catAx>
        <c:axId val="10945771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94581008"/>
        <c:crosses val="autoZero"/>
        <c:auto val="1"/>
        <c:lblAlgn val="ctr"/>
        <c:lblOffset val="100"/>
        <c:noMultiLvlLbl val="0"/>
      </c:catAx>
      <c:valAx>
        <c:axId val="1094581008"/>
        <c:scaling>
          <c:orientation val="minMax"/>
        </c:scaling>
        <c:delete val="1"/>
        <c:axPos val="b"/>
        <c:majorGridlines>
          <c:spPr>
            <a:ln w="9525" cap="flat" cmpd="sng" algn="ctr">
              <a:gradFill>
                <a:gsLst>
                  <a:gs pos="0">
                    <a:schemeClr val="bg1">
                      <a:lumMod val="75000"/>
                    </a:schemeClr>
                  </a:gs>
                  <a:gs pos="33000">
                    <a:schemeClr val="bg1">
                      <a:lumMod val="75000"/>
                    </a:schemeClr>
                  </a:gs>
                  <a:gs pos="67000">
                    <a:schemeClr val="bg1">
                      <a:lumMod val="7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  <a:round/>
            </a:ln>
            <a:effectLst/>
          </c:spPr>
        </c:majorGridlines>
        <c:numFmt formatCode="#,##0_ ;[Red]\-#,##0\ " sourceLinked="1"/>
        <c:majorTickMark val="none"/>
        <c:minorTickMark val="none"/>
        <c:tickLblPos val="nextTo"/>
        <c:crossAx val="1094577168"/>
        <c:crosses val="autoZero"/>
        <c:crossBetween val="between"/>
      </c:valAx>
      <c:spPr>
        <a:noFill/>
        <a:ln>
          <a:noFill/>
        </a:ln>
        <a:effectLst>
          <a:softEdge rad="63500"/>
        </a:effectLst>
      </c:spPr>
    </c:plotArea>
    <c:plotVisOnly val="1"/>
    <c:dispBlanksAs val="gap"/>
    <c:showDLblsOverMax val="0"/>
  </c:chart>
  <c:spPr>
    <a:gradFill>
      <a:gsLst>
        <a:gs pos="0">
          <a:schemeClr val="bg1">
            <a:lumMod val="75000"/>
          </a:schemeClr>
        </a:gs>
        <a:gs pos="33000">
          <a:schemeClr val="bg1">
            <a:lumMod val="95000"/>
          </a:schemeClr>
        </a:gs>
        <a:gs pos="67000">
          <a:schemeClr val="bg1">
            <a:lumMod val="95000"/>
          </a:schemeClr>
        </a:gs>
        <a:gs pos="100000">
          <a:schemeClr val="bg1">
            <a:lumMod val="75000"/>
          </a:schemeClr>
        </a:gs>
      </a:gsLst>
      <a:lin ang="5400000" scaled="1"/>
    </a:gradFill>
    <a:ln>
      <a:noFill/>
    </a:ln>
    <a:effectLst>
      <a:softEdge rad="63500"/>
    </a:effectLst>
  </c:spPr>
  <c:txPr>
    <a:bodyPr/>
    <a:lstStyle/>
    <a:p>
      <a:pPr>
        <a:defRPr/>
      </a:pPr>
      <a:endParaRPr lang="de-DE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0.20351</cdr:x>
      <cdr:y>0.69818</cdr:y>
    </cdr:from>
    <cdr:to>
      <cdr:x>0.41266</cdr:x>
      <cdr:y>0.81479</cdr:y>
    </cdr:to>
    <cdr:sp macro="" textlink="">
      <cdr:nvSpPr>
        <cdr:cNvPr id="3" name="Textfeld 2">
          <a:extLst xmlns:a="http://schemas.openxmlformats.org/drawingml/2006/main">
            <a:ext uri="{FF2B5EF4-FFF2-40B4-BE49-F238E27FC236}">
              <a16:creationId xmlns:a16="http://schemas.microsoft.com/office/drawing/2014/main" id="{745272E7-3C1D-BDDA-083C-17A91D3B45DA}"/>
            </a:ext>
          </a:extLst>
        </cdr:cNvPr>
        <cdr:cNvSpPr txBox="1"/>
      </cdr:nvSpPr>
      <cdr:spPr>
        <a:xfrm xmlns:a="http://schemas.openxmlformats.org/drawingml/2006/main">
          <a:off x="526992" y="1590709"/>
          <a:ext cx="541598" cy="2656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de-DE" sz="1200" b="1" dirty="0">
              <a:solidFill>
                <a:schemeClr val="bg1">
                  <a:lumMod val="50000"/>
                </a:schemeClr>
              </a:solidFill>
            </a:rPr>
            <a:t>E – G</a:t>
          </a:r>
        </a:p>
      </cdr:txBody>
    </cdr:sp>
  </cdr:relSizeAnchor>
  <cdr:relSizeAnchor xmlns:cdr="http://schemas.openxmlformats.org/drawingml/2006/chartDrawing">
    <cdr:from>
      <cdr:x>0.46868</cdr:x>
      <cdr:y>0.69774</cdr:y>
    </cdr:from>
    <cdr:to>
      <cdr:x>0.7354</cdr:x>
      <cdr:y>0.80548</cdr:y>
    </cdr:to>
    <cdr:sp macro="" textlink="">
      <cdr:nvSpPr>
        <cdr:cNvPr id="4" name="Textfeld 1">
          <a:extLst xmlns:a="http://schemas.openxmlformats.org/drawingml/2006/main">
            <a:ext uri="{FF2B5EF4-FFF2-40B4-BE49-F238E27FC236}">
              <a16:creationId xmlns:a16="http://schemas.microsoft.com/office/drawing/2014/main" id="{96390263-BED4-D37F-8E59-171387129906}"/>
            </a:ext>
          </a:extLst>
        </cdr:cNvPr>
        <cdr:cNvSpPr txBox="1"/>
      </cdr:nvSpPr>
      <cdr:spPr>
        <a:xfrm xmlns:a="http://schemas.openxmlformats.org/drawingml/2006/main">
          <a:off x="1213667" y="1589726"/>
          <a:ext cx="690666" cy="24545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de-DE" sz="1200" b="1" dirty="0">
              <a:solidFill>
                <a:schemeClr val="bg1">
                  <a:lumMod val="50000"/>
                </a:schemeClr>
              </a:solidFill>
            </a:rPr>
            <a:t>A++ – B 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EA207-20F0-22AF-D4C9-F3CC89E90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5C2B23-3DFE-0EC9-F294-F8E1F56C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6737C5-4A78-3279-9189-E1B30B28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14FB-9098-4D7D-86A6-CFE6D1B83224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E7A3B0-BBC1-117C-0991-681E9036E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D102C2-6E5F-026C-4003-F59E4FE5E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3173-4C3A-4E8B-9A3C-A389B886C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560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7086FC-12FB-CB4E-17FB-7AB9CDDB6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1F8186-3F0C-85BA-6A2E-14BFC70F4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FD8238-C501-F17F-C153-2DEAAED52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14FB-9098-4D7D-86A6-CFE6D1B83224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96AE40-6E2F-AA2D-F752-F963FC408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94502E-59EB-DE8E-9472-3D0F4BC1F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3173-4C3A-4E8B-9A3C-A389B886C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4999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1E6134-5550-7170-D4CA-3ADA923F5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C26020-4C12-D91B-CAE2-DC6CD96F7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F94745-A698-4C7F-1CAD-4A4112B3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14FB-9098-4D7D-86A6-CFE6D1B83224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9ED467-0B84-DC7D-732D-8E1A59A5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B83221-0BD0-2097-A723-6B12AC962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3173-4C3A-4E8B-9A3C-A389B886C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2041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DBBD2B-E94F-CB0B-A9CF-D47943C05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60D1C1-344A-AD58-18F0-960D418C4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F5D31A-57E3-DD7E-0F42-2E268588D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E622D6-34E6-C5F8-236A-3F3FD34FC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14FB-9098-4D7D-86A6-CFE6D1B83224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01D841-C083-F83E-0694-C2110485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FBDCD4-0AD9-FD88-D9C2-C17E4513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3173-4C3A-4E8B-9A3C-A389B886C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210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52836-EEB5-B4AB-09B0-DA71AD8C6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A4922A-FA4B-BD14-29AD-A915CFA59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91D62A1-A727-DBE7-8603-62909AF7A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6DEB274-8CB6-FE8F-1DC8-882CA7BCE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DD3286E-0F4A-736E-FA8E-ADC87F4E4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F007D33-9F9C-C5F2-AFBD-053D71335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14FB-9098-4D7D-86A6-CFE6D1B83224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8BFE8FF-1988-2063-F3FA-D1F171339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F293B0D-9E67-4D96-D060-9931707C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3173-4C3A-4E8B-9A3C-A389B886C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541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2F69D6-B510-887E-024C-54DEA66C4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0A64CA0-B349-76A3-B59B-1BC216CCA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14FB-9098-4D7D-86A6-CFE6D1B83224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BFDCF3-C2F9-1067-749F-E641E428C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88118A-4395-3846-F950-3F2D7E81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3173-4C3A-4E8B-9A3C-A389B886C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140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59DD1C9-5799-588C-7EE1-03591E64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14FB-9098-4D7D-86A6-CFE6D1B83224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C167EF-27B5-1DFE-0137-F58306790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D74A6C-1E30-F36C-2077-F4B22535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3173-4C3A-4E8B-9A3C-A389B886C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4675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664B70-947F-EB07-426A-5C34B6C32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99BA73-3941-DF02-7F84-0FD1A4CD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C78B8B-53F9-BE33-F186-F2260967A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9EA922-736D-D8BF-C0EB-9F40E3500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14FB-9098-4D7D-86A6-CFE6D1B83224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6351B8-E93D-6163-79A3-D7479D78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0DDC3B-7117-43E4-E82D-FC04F829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3173-4C3A-4E8B-9A3C-A389B886C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2272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54A387-C7A6-369F-BEDB-DED0D2C61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2B5B124-C251-D1B2-D98D-5BCBD859C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D7E50D-95D9-6346-2B6D-8505B3524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3405ED-4DC2-3D48-7B43-16641C39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14FB-9098-4D7D-86A6-CFE6D1B83224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EB87C1-E56E-C699-19B7-8F6D3E950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00A1CA-5212-F109-FD2E-83987774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3173-4C3A-4E8B-9A3C-A389B886C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9390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63ED2F-C9E7-C0BF-C0AC-089C1B607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59D499-5E25-8339-8315-6729EFB35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F5C7B9-242E-75C3-FE46-FABBB3892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14FB-9098-4D7D-86A6-CFE6D1B83224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45EC61-B694-CE7C-0DC0-7193EC5C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D846A2-BD93-72CC-5F22-2CEABFFB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3173-4C3A-4E8B-9A3C-A389B886C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3400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D95D558-BDC8-EDA0-BAA2-57CC957D9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C7A52C-92EC-71D2-0A03-2C657B630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A19BA1-143A-1111-7BC9-0CAC37B8A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14FB-9098-4D7D-86A6-CFE6D1B83224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8E924B-71E1-C750-92BE-58DEBFB3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62F66A-8098-EB57-1940-BBA64B1B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3173-4C3A-4E8B-9A3C-A389B886C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406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C00">
            <a:alpha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B34484C-3CDA-4F10-7376-E7B626E93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844F86-FE98-DBF3-193C-406225C9E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C8C844-7824-A140-AF6E-4868463381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014FB-9098-4D7D-86A6-CFE6D1B83224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DD0D9B-8423-69EC-BD21-4CBE21182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F09FE0-8121-0480-D470-81332DCC5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53173-4C3A-4E8B-9A3C-A389B886C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883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0C00">
            <a:alpha val="8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Text, Visitenkarte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728B93A9-2136-7A2E-F950-E358FF2417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2000"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172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9026656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F7E5724-E802-00BC-3EBF-6EDEAC4D7509}"/>
              </a:ext>
            </a:extLst>
          </p:cNvPr>
          <p:cNvSpPr txBox="1"/>
          <p:nvPr/>
        </p:nvSpPr>
        <p:spPr>
          <a:xfrm>
            <a:off x="796331" y="2424299"/>
            <a:ext cx="108296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The changes and consequences of introducing the WWS 2024</a:t>
            </a:r>
          </a:p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using the example of a fictitious housing portfolio</a:t>
            </a:r>
            <a:endParaRPr lang="de-DE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CBF3800-33CB-5038-585D-4EABCEB67DBD}"/>
              </a:ext>
            </a:extLst>
          </p:cNvPr>
          <p:cNvSpPr txBox="1"/>
          <p:nvPr/>
        </p:nvSpPr>
        <p:spPr>
          <a:xfrm>
            <a:off x="796331" y="327917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STRATEGIC PROPERTY INTELLIGENCE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F40E3C6-EF55-1C5D-861F-2B861AB7D19B}"/>
              </a:ext>
            </a:extLst>
          </p:cNvPr>
          <p:cNvSpPr txBox="1"/>
          <p:nvPr/>
        </p:nvSpPr>
        <p:spPr>
          <a:xfrm>
            <a:off x="796331" y="6299250"/>
            <a:ext cx="14143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C000"/>
                </a:solidFill>
              </a:rPr>
              <a:t>CREATED WITH </a:t>
            </a:r>
          </a:p>
          <a:p>
            <a:r>
              <a:rPr lang="en-US" sz="1200" dirty="0">
                <a:solidFill>
                  <a:srgbClr val="FFC000"/>
                </a:solidFill>
              </a:rPr>
              <a:t>Python &amp; Power BI</a:t>
            </a:r>
            <a:endParaRPr lang="de-DE" sz="1200" dirty="0">
              <a:solidFill>
                <a:srgbClr val="FFC000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F12C2B6-DC40-858C-D166-8454326BD462}"/>
              </a:ext>
            </a:extLst>
          </p:cNvPr>
          <p:cNvSpPr txBox="1"/>
          <p:nvPr/>
        </p:nvSpPr>
        <p:spPr>
          <a:xfrm>
            <a:off x="796331" y="1025165"/>
            <a:ext cx="6094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The impact of the WWS 2024 on apartment portfolios</a:t>
            </a:r>
            <a:endParaRPr lang="de-DE" sz="36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72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3F2EAF8F-2DD0-1EAF-15AB-C0D02F9838B2}"/>
              </a:ext>
            </a:extLst>
          </p:cNvPr>
          <p:cNvSpPr txBox="1"/>
          <p:nvPr/>
        </p:nvSpPr>
        <p:spPr>
          <a:xfrm>
            <a:off x="551443" y="551727"/>
            <a:ext cx="6124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│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1. THE INITIAL SITUATION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6A93BE6-FD54-F6B4-FC8B-295842024A28}"/>
              </a:ext>
            </a:extLst>
          </p:cNvPr>
          <p:cNvSpPr txBox="1"/>
          <p:nvPr/>
        </p:nvSpPr>
        <p:spPr>
          <a:xfrm>
            <a:off x="6164825" y="2688177"/>
            <a:ext cx="4758814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Wbh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+ WWS 2024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 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segments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  ‚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sociaal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‘ 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lang="de-DE" sz="11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+mn-ea"/>
                <a:cs typeface="+mn-cs"/>
              </a:rPr>
              <a:t>&lt;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144 </a:t>
            </a: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points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>
              <a:defRPr/>
            </a:pPr>
            <a:r>
              <a:rPr lang="de-DE" sz="1400" dirty="0">
                <a:solidFill>
                  <a:schemeClr val="bg1">
                    <a:lumMod val="75000"/>
                  </a:schemeClr>
                </a:solidFill>
                <a:latin typeface="Aptos" panose="02110004020202020204"/>
              </a:rPr>
              <a:t>	     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‚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middenhuur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‘ 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(144 – 186 </a:t>
            </a: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points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>
              <a:defRPr/>
            </a:pPr>
            <a:r>
              <a:rPr lang="de-DE" sz="1400" dirty="0">
                <a:solidFill>
                  <a:schemeClr val="bg1">
                    <a:lumMod val="75000"/>
                  </a:schemeClr>
                </a:solidFill>
                <a:latin typeface="Aptos" panose="02110004020202020204"/>
              </a:rPr>
              <a:t>	     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‚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vrij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‘ 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≥ 187 </a:t>
            </a: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points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)</a:t>
            </a: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Rent control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  Segments 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‚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vrij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' and 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‚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middenhuur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>
                  <a:lumMod val="75000"/>
                </a:schemeClr>
              </a:solidFill>
              <a:latin typeface="Aptos" panose="02110004020202020204"/>
            </a:endParaRPr>
          </a:p>
          <a:p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Capping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the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WOZ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value to 33% from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187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points</a:t>
            </a:r>
          </a:p>
          <a:p>
            <a:endParaRPr lang="en-US" dirty="0">
              <a:solidFill>
                <a:schemeClr val="bg1">
                  <a:lumMod val="75000"/>
                </a:schemeClr>
              </a:solidFill>
              <a:latin typeface="Aptos" panose="02110004020202020204"/>
            </a:endParaRPr>
          </a:p>
          <a:p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Energy 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label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   Upgrading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sustainability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– high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point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spread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r>
              <a:rPr lang="de-DE" sz="1400" dirty="0">
                <a:solidFill>
                  <a:schemeClr val="bg1">
                    <a:lumMod val="75000"/>
                  </a:schemeClr>
                </a:solidFill>
                <a:latin typeface="Aptos" panose="02110004020202020204"/>
              </a:rPr>
              <a:t>                               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</a:t>
            </a:r>
            <a:r>
              <a:rPr lang="de-DE" sz="1400" dirty="0">
                <a:solidFill>
                  <a:schemeClr val="bg1">
                    <a:lumMod val="75000"/>
                  </a:schemeClr>
                </a:solidFill>
                <a:latin typeface="Aptos" panose="021100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negative points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 labels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94526DB-B107-B7E8-624E-23ECB4F1FA3D}"/>
              </a:ext>
            </a:extLst>
          </p:cNvPr>
          <p:cNvSpPr txBox="1"/>
          <p:nvPr/>
        </p:nvSpPr>
        <p:spPr>
          <a:xfrm>
            <a:off x="1268362" y="2688751"/>
            <a:ext cx="4758814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WWS 2022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segments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  ‚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sociaal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‘ 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&lt;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141 </a:t>
            </a: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points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400" dirty="0">
                <a:solidFill>
                  <a:schemeClr val="bg1">
                    <a:lumMod val="75000"/>
                  </a:schemeClr>
                </a:solidFill>
                <a:latin typeface="Aptos" panose="02110004020202020204"/>
              </a:rPr>
              <a:t>	     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‚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vrij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‘ 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≥ 141 </a:t>
            </a: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points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)</a:t>
            </a: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Rent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contro</a:t>
            </a:r>
            <a:r>
              <a:rPr lang="en-US" sz="1400" b="1" dirty="0">
                <a:solidFill>
                  <a:schemeClr val="bg1"/>
                </a:solidFill>
                <a:latin typeface="Aptos" panose="02110004020202020204"/>
              </a:rPr>
              <a:t>l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Aptos" panose="02110004020202020204"/>
              </a:rPr>
              <a:t>:</a:t>
            </a:r>
            <a:r>
              <a:rPr lang="en-US" sz="1400" b="1" dirty="0">
                <a:solidFill>
                  <a:schemeClr val="bg1"/>
                </a:solidFill>
                <a:latin typeface="Aptos" panose="02110004020202020204"/>
              </a:rPr>
              <a:t>  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Aptos" panose="02110004020202020204"/>
              </a:rPr>
              <a:t>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egment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‚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vrij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’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Capping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the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WOZ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value to 33% from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141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points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>
                  <a:lumMod val="75000"/>
                </a:schemeClr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Energy label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  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‚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gentle bonus system’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CE81919-EE44-0F16-9B17-8A9F6FD54F14}"/>
              </a:ext>
            </a:extLst>
          </p:cNvPr>
          <p:cNvSpPr txBox="1"/>
          <p:nvPr/>
        </p:nvSpPr>
        <p:spPr>
          <a:xfrm>
            <a:off x="698089" y="1290391"/>
            <a:ext cx="108548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Dutch rental housing market is among the most strained in Europe.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With the introduction of the ,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Wet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betaalbare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huur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Wbh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’ the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new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Woningwaarderingstelsel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(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WWS 2024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Aptos" panose="02110004020202020204"/>
              </a:rPr>
              <a:t>’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evolved from a guideline into binding regulation with significant economic implications.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A93A9634-5E2B-3D9A-3E4B-4662D161C40C}"/>
              </a:ext>
            </a:extLst>
          </p:cNvPr>
          <p:cNvCxnSpPr>
            <a:cxnSpLocks/>
          </p:cNvCxnSpPr>
          <p:nvPr/>
        </p:nvCxnSpPr>
        <p:spPr>
          <a:xfrm>
            <a:off x="791496" y="3143317"/>
            <a:ext cx="10545097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FC45FED9-3D04-1D4F-DD39-6E16DBA4D754}"/>
              </a:ext>
            </a:extLst>
          </p:cNvPr>
          <p:cNvCxnSpPr>
            <a:cxnSpLocks/>
          </p:cNvCxnSpPr>
          <p:nvPr/>
        </p:nvCxnSpPr>
        <p:spPr>
          <a:xfrm>
            <a:off x="791496" y="4042968"/>
            <a:ext cx="10545097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BA75A0E-1BF0-4E41-FF24-19B1FCAB26E7}"/>
              </a:ext>
            </a:extLst>
          </p:cNvPr>
          <p:cNvCxnSpPr>
            <a:cxnSpLocks/>
          </p:cNvCxnSpPr>
          <p:nvPr/>
        </p:nvCxnSpPr>
        <p:spPr>
          <a:xfrm>
            <a:off x="791496" y="4495241"/>
            <a:ext cx="10545097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3B19B186-FE62-CE79-2E91-E8B5A1351182}"/>
              </a:ext>
            </a:extLst>
          </p:cNvPr>
          <p:cNvCxnSpPr>
            <a:cxnSpLocks/>
          </p:cNvCxnSpPr>
          <p:nvPr/>
        </p:nvCxnSpPr>
        <p:spPr>
          <a:xfrm>
            <a:off x="791496" y="4972106"/>
            <a:ext cx="10545097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1C213311-42C7-D6D3-039B-6E6C46A6E5AC}"/>
              </a:ext>
            </a:extLst>
          </p:cNvPr>
          <p:cNvCxnSpPr>
            <a:cxnSpLocks/>
          </p:cNvCxnSpPr>
          <p:nvPr/>
        </p:nvCxnSpPr>
        <p:spPr>
          <a:xfrm>
            <a:off x="791496" y="5684945"/>
            <a:ext cx="10545097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99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3F2EAF8F-2DD0-1EAF-15AB-C0D02F9838B2}"/>
              </a:ext>
            </a:extLst>
          </p:cNvPr>
          <p:cNvSpPr txBox="1"/>
          <p:nvPr/>
        </p:nvSpPr>
        <p:spPr>
          <a:xfrm>
            <a:off x="551443" y="551727"/>
            <a:ext cx="6124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│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1. THE INITIAL SITUATION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CE81919-EE44-0F16-9B17-8A9F6FD54F14}"/>
              </a:ext>
            </a:extLst>
          </p:cNvPr>
          <p:cNvSpPr txBox="1"/>
          <p:nvPr/>
        </p:nvSpPr>
        <p:spPr>
          <a:xfrm>
            <a:off x="698089" y="1290391"/>
            <a:ext cx="108548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Dutch rental housing market is among the most strained in Europe.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With the introduction of the ,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Wet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betaalbare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huur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Wbh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)’ the new ,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Woningwaarderingstelsel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(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WWS 2024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)’ evolved from a guideline into binding regulation with significant economic implications.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1C213311-42C7-D6D3-039B-6E6C46A6E5AC}"/>
              </a:ext>
            </a:extLst>
          </p:cNvPr>
          <p:cNvCxnSpPr>
            <a:cxnSpLocks/>
          </p:cNvCxnSpPr>
          <p:nvPr/>
        </p:nvCxnSpPr>
        <p:spPr>
          <a:xfrm>
            <a:off x="823451" y="3187552"/>
            <a:ext cx="10545097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18BA5C1F-6762-3DB0-4F7C-CEC72283D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679613"/>
              </p:ext>
            </p:extLst>
          </p:nvPr>
        </p:nvGraphicFramePr>
        <p:xfrm>
          <a:off x="791496" y="2823265"/>
          <a:ext cx="10628672" cy="2468880"/>
        </p:xfrm>
        <a:graphic>
          <a:graphicData uri="http://schemas.openxmlformats.org/drawingml/2006/table">
            <a:tbl>
              <a:tblPr/>
              <a:tblGrid>
                <a:gridCol w="2344994">
                  <a:extLst>
                    <a:ext uri="{9D8B030D-6E8A-4147-A177-3AD203B41FA5}">
                      <a16:colId xmlns:a16="http://schemas.microsoft.com/office/drawing/2014/main" val="1117969365"/>
                    </a:ext>
                  </a:extLst>
                </a:gridCol>
                <a:gridCol w="3313792">
                  <a:extLst>
                    <a:ext uri="{9D8B030D-6E8A-4147-A177-3AD203B41FA5}">
                      <a16:colId xmlns:a16="http://schemas.microsoft.com/office/drawing/2014/main" val="612332863"/>
                    </a:ext>
                  </a:extLst>
                </a:gridCol>
                <a:gridCol w="4969886">
                  <a:extLst>
                    <a:ext uri="{9D8B030D-6E8A-4147-A177-3AD203B41FA5}">
                      <a16:colId xmlns:a16="http://schemas.microsoft.com/office/drawing/2014/main" val="27431787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de-DE" sz="1600" b="1" dirty="0" err="1">
                          <a:solidFill>
                            <a:srgbClr val="FFC000"/>
                          </a:solidFill>
                          <a:effectLst/>
                          <a:latin typeface="+mn-lt"/>
                        </a:rPr>
                        <a:t>Regulatory</a:t>
                      </a:r>
                      <a:r>
                        <a:rPr lang="de-DE" sz="1600" b="1" dirty="0">
                          <a:solidFill>
                            <a:srgbClr val="FFC000"/>
                          </a:solidFill>
                          <a:effectLst/>
                          <a:latin typeface="+mn-lt"/>
                        </a:rPr>
                        <a:t> Parameter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de-DE" sz="1600" b="1" dirty="0">
                          <a:solidFill>
                            <a:srgbClr val="FFC000"/>
                          </a:solidFill>
                          <a:effectLst/>
                          <a:latin typeface="+mn-lt"/>
                        </a:rPr>
                        <a:t>WWS 2022 (Legacy)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de-DE" sz="1600" b="1" dirty="0" err="1">
                          <a:solidFill>
                            <a:srgbClr val="FFC000"/>
                          </a:solidFill>
                          <a:effectLst/>
                          <a:latin typeface="+mn-lt"/>
                        </a:rPr>
                        <a:t>Wbh</a:t>
                      </a:r>
                      <a:r>
                        <a:rPr lang="de-DE" sz="1600" b="1" dirty="0">
                          <a:solidFill>
                            <a:srgbClr val="FFC000"/>
                          </a:solidFill>
                          <a:effectLst/>
                          <a:latin typeface="+mn-lt"/>
                        </a:rPr>
                        <a:t> + WWS 2024 (New)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292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endParaRPr lang="de-DE" sz="1200" b="1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  <a:p>
                      <a:pPr fontAlgn="ctr"/>
                      <a:r>
                        <a:rPr lang="de-DE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Market Segmentation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de-DE" sz="12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fontAlgn="ctr"/>
                      <a:r>
                        <a:rPr lang="de-DE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2 Segments</a:t>
                      </a:r>
                      <a:r>
                        <a:rPr lang="de-DE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: </a:t>
                      </a:r>
                      <a:r>
                        <a:rPr lang="de-DE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SOCIAAL</a:t>
                      </a:r>
                      <a:r>
                        <a:rPr lang="de-DE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de-DE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(&lt; 141 </a:t>
                      </a:r>
                      <a:r>
                        <a:rPr lang="de-DE" sz="9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pts</a:t>
                      </a:r>
                      <a:r>
                        <a:rPr lang="de-DE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) </a:t>
                      </a:r>
                      <a:r>
                        <a:rPr lang="de-DE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| </a:t>
                      </a:r>
                      <a:r>
                        <a:rPr lang="de-DE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VRIJ</a:t>
                      </a:r>
                      <a:r>
                        <a:rPr lang="de-DE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de-DE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(≥ 141 </a:t>
                      </a:r>
                      <a:r>
                        <a:rPr lang="de-DE" sz="9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pts</a:t>
                      </a:r>
                      <a:r>
                        <a:rPr lang="de-DE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2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fontAlgn="ctr"/>
                      <a:r>
                        <a:rPr lang="en-US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3 Segments:</a:t>
                      </a:r>
                      <a:r>
                        <a:rPr lang="en-US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en-US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SOCIAAL</a:t>
                      </a:r>
                      <a:r>
                        <a:rPr lang="en-US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(&lt; 144 pts) </a:t>
                      </a:r>
                      <a:r>
                        <a:rPr lang="en-US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| </a:t>
                      </a:r>
                      <a:r>
                        <a:rPr lang="en-US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MIDDENHUUR</a:t>
                      </a:r>
                      <a:r>
                        <a:rPr lang="en-US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(144–186 pts)</a:t>
                      </a:r>
                      <a:r>
                        <a:rPr lang="en-US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| </a:t>
                      </a:r>
                      <a:r>
                        <a:rPr lang="en-US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VRIJ</a:t>
                      </a:r>
                      <a:r>
                        <a:rPr lang="en-US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(≥ 187 pts)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432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endParaRPr lang="de-DE" sz="1200" b="1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  <a:p>
                      <a:pPr fontAlgn="ctr"/>
                      <a:r>
                        <a:rPr lang="de-DE" sz="12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Rent</a:t>
                      </a:r>
                      <a:r>
                        <a:rPr lang="de-DE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Control </a:t>
                      </a:r>
                      <a:r>
                        <a:rPr lang="de-DE" sz="12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Enforcement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fontAlgn="ctr"/>
                      <a:r>
                        <a:rPr lang="en-US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Limited to Social Sector only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2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fontAlgn="ctr"/>
                      <a:r>
                        <a:rPr lang="en-US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Strictly enforced</a:t>
                      </a:r>
                      <a:r>
                        <a:rPr lang="en-US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 across Social AND Mid-Market segments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941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endParaRPr lang="de-DE" sz="1200" b="1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  <a:p>
                      <a:pPr fontAlgn="ctr"/>
                      <a:r>
                        <a:rPr lang="de-DE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WOZ-Cap (Property Value)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fontAlgn="ctr"/>
                      <a:r>
                        <a:rPr lang="en-US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33%</a:t>
                      </a:r>
                      <a:r>
                        <a:rPr lang="en-US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capping triggers at </a:t>
                      </a:r>
                      <a:r>
                        <a:rPr lang="en-US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141 points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fontAlgn="ctr"/>
                      <a:r>
                        <a:rPr lang="en-US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33%</a:t>
                      </a:r>
                      <a:r>
                        <a:rPr lang="en-US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capping shifted to </a:t>
                      </a:r>
                      <a:r>
                        <a:rPr lang="en-US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≥ 187 points</a:t>
                      </a:r>
                      <a:r>
                        <a:rPr lang="en-US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 (Cliff Effect)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391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endParaRPr lang="de-DE" sz="1200" b="1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  <a:p>
                      <a:pPr fontAlgn="ctr"/>
                      <a:r>
                        <a:rPr lang="de-DE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Energy Label Impact</a:t>
                      </a:r>
                      <a:endParaRPr lang="de-DE" sz="12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fontAlgn="ctr"/>
                      <a:r>
                        <a:rPr lang="en-US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Passive bonus framework (No penalties)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200" b="1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fontAlgn="ctr"/>
                      <a:r>
                        <a:rPr lang="en-US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High point spread:</a:t>
                      </a:r>
                      <a:r>
                        <a:rPr lang="en-US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 Heavy penalties for E, F, G (up to -25 pts)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0C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58817"/>
                  </a:ext>
                </a:extLst>
              </a:tr>
            </a:tbl>
          </a:graphicData>
        </a:graphic>
      </p:graphicFrame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4D919503-DC34-DEBC-6A93-CAC49C02D695}"/>
              </a:ext>
            </a:extLst>
          </p:cNvPr>
          <p:cNvCxnSpPr>
            <a:cxnSpLocks/>
          </p:cNvCxnSpPr>
          <p:nvPr/>
        </p:nvCxnSpPr>
        <p:spPr>
          <a:xfrm>
            <a:off x="823451" y="3713577"/>
            <a:ext cx="10545097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E5832B1-79F5-44A3-507F-9420C39B7919}"/>
              </a:ext>
            </a:extLst>
          </p:cNvPr>
          <p:cNvCxnSpPr>
            <a:cxnSpLocks/>
          </p:cNvCxnSpPr>
          <p:nvPr/>
        </p:nvCxnSpPr>
        <p:spPr>
          <a:xfrm>
            <a:off x="823451" y="5283229"/>
            <a:ext cx="10545097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C11B6EBB-469F-69D6-C6F7-E9E2E65B22E7}"/>
              </a:ext>
            </a:extLst>
          </p:cNvPr>
          <p:cNvCxnSpPr>
            <a:cxnSpLocks/>
          </p:cNvCxnSpPr>
          <p:nvPr/>
        </p:nvCxnSpPr>
        <p:spPr>
          <a:xfrm>
            <a:off x="823451" y="4283848"/>
            <a:ext cx="10545097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C15915C-8226-EFDC-140F-391E8D552238}"/>
              </a:ext>
            </a:extLst>
          </p:cNvPr>
          <p:cNvCxnSpPr>
            <a:cxnSpLocks/>
          </p:cNvCxnSpPr>
          <p:nvPr/>
        </p:nvCxnSpPr>
        <p:spPr>
          <a:xfrm>
            <a:off x="823451" y="4760712"/>
            <a:ext cx="10545097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00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3F2EAF8F-2DD0-1EAF-15AB-C0D02F9838B2}"/>
              </a:ext>
            </a:extLst>
          </p:cNvPr>
          <p:cNvSpPr txBox="1"/>
          <p:nvPr/>
        </p:nvSpPr>
        <p:spPr>
          <a:xfrm>
            <a:off x="551444" y="551727"/>
            <a:ext cx="60263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│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2. THE PORTFOLIO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CE81919-EE44-0F16-9B17-8A9F6FD54F14}"/>
              </a:ext>
            </a:extLst>
          </p:cNvPr>
          <p:cNvSpPr txBox="1"/>
          <p:nvPr/>
        </p:nvSpPr>
        <p:spPr>
          <a:xfrm>
            <a:off x="750320" y="1196586"/>
            <a:ext cx="10723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fictitious portfolio consists of 1,500 dwellings (105,000 sqm)  and reflects a typical developed Dutch housing stock after World War II.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3" name="Diagramm 12">
            <a:extLst>
              <a:ext uri="{FF2B5EF4-FFF2-40B4-BE49-F238E27FC236}">
                <a16:creationId xmlns:a16="http://schemas.microsoft.com/office/drawing/2014/main" id="{1414EA76-6010-F081-F48B-98CE08F07183}"/>
              </a:ext>
            </a:extLst>
          </p:cNvPr>
          <p:cNvGraphicFramePr>
            <a:graphicFrameLocks/>
          </p:cNvGraphicFramePr>
          <p:nvPr/>
        </p:nvGraphicFramePr>
        <p:xfrm>
          <a:off x="793205" y="2425002"/>
          <a:ext cx="3326374" cy="2278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15959AA-AA07-C13C-937C-1E37D9FEA7B1}"/>
              </a:ext>
            </a:extLst>
          </p:cNvPr>
          <p:cNvCxnSpPr>
            <a:cxnSpLocks/>
          </p:cNvCxnSpPr>
          <p:nvPr/>
        </p:nvCxnSpPr>
        <p:spPr>
          <a:xfrm>
            <a:off x="705002" y="5601380"/>
            <a:ext cx="10781996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C5E1D14E-4BEA-0354-534A-8AF28BAAE4B5}"/>
              </a:ext>
            </a:extLst>
          </p:cNvPr>
          <p:cNvSpPr/>
          <p:nvPr/>
        </p:nvSpPr>
        <p:spPr>
          <a:xfrm>
            <a:off x="8809272" y="2438369"/>
            <a:ext cx="2589522" cy="1101244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33000">
                <a:schemeClr val="bg1">
                  <a:lumMod val="95000"/>
                </a:schemeClr>
              </a:gs>
              <a:gs pos="67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6350">
            <a:solidFill>
              <a:srgbClr val="FF9900"/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4221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Rental </a:t>
            </a: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4221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income</a:t>
            </a: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4221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600" b="1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600" b="1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€ 14.4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million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p.a.</a:t>
            </a:r>
          </a:p>
        </p:txBody>
      </p:sp>
      <p:graphicFrame>
        <p:nvGraphicFramePr>
          <p:cNvPr id="19" name="Diagramm 18">
            <a:extLst>
              <a:ext uri="{FF2B5EF4-FFF2-40B4-BE49-F238E27FC236}">
                <a16:creationId xmlns:a16="http://schemas.microsoft.com/office/drawing/2014/main" id="{7B9A74CA-6076-4F74-A492-77E03653EE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5691465"/>
              </p:ext>
            </p:extLst>
          </p:nvPr>
        </p:nvGraphicFramePr>
        <p:xfrm>
          <a:off x="6157516" y="2438370"/>
          <a:ext cx="2589522" cy="2278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Rechteck 19">
            <a:extLst>
              <a:ext uri="{FF2B5EF4-FFF2-40B4-BE49-F238E27FC236}">
                <a16:creationId xmlns:a16="http://schemas.microsoft.com/office/drawing/2014/main" id="{DE261145-3CBF-AAA7-6141-A959C10561CD}"/>
              </a:ext>
            </a:extLst>
          </p:cNvPr>
          <p:cNvSpPr/>
          <p:nvPr/>
        </p:nvSpPr>
        <p:spPr>
          <a:xfrm>
            <a:off x="8809272" y="3615467"/>
            <a:ext cx="2589522" cy="1101241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33000">
                <a:schemeClr val="bg1">
                  <a:lumMod val="95000"/>
                </a:schemeClr>
              </a:gs>
              <a:gs pos="67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6350">
            <a:solidFill>
              <a:srgbClr val="FF9900"/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dirty="0" err="1">
                <a:solidFill>
                  <a:srgbClr val="422100"/>
                </a:solidFill>
                <a:latin typeface="Aptos" panose="02110004020202020204"/>
              </a:rPr>
              <a:t>Avg</a:t>
            </a:r>
            <a:r>
              <a:rPr lang="de-DE" sz="1200" b="1" dirty="0">
                <a:solidFill>
                  <a:srgbClr val="422100"/>
                </a:solidFill>
                <a:latin typeface="Aptos" panose="02110004020202020204"/>
              </a:rPr>
              <a:t>. WWS 2022 </a:t>
            </a:r>
            <a:r>
              <a:rPr lang="de-DE" sz="1200" b="1" dirty="0" err="1">
                <a:solidFill>
                  <a:srgbClr val="422100"/>
                </a:solidFill>
                <a:latin typeface="Aptos" panose="02110004020202020204"/>
              </a:rPr>
              <a:t>points</a:t>
            </a: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4221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600" b="1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600" b="1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129</a:t>
            </a:r>
          </a:p>
        </p:txBody>
      </p:sp>
      <p:graphicFrame>
        <p:nvGraphicFramePr>
          <p:cNvPr id="21" name="Diagramm 20">
            <a:extLst>
              <a:ext uri="{FF2B5EF4-FFF2-40B4-BE49-F238E27FC236}">
                <a16:creationId xmlns:a16="http://schemas.microsoft.com/office/drawing/2014/main" id="{E621F7E6-365D-5BE9-CA79-8684653D03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78932"/>
              </p:ext>
            </p:extLst>
          </p:nvPr>
        </p:nvGraphicFramePr>
        <p:xfrm>
          <a:off x="3475361" y="2438369"/>
          <a:ext cx="2568553" cy="2278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Diagramm 21">
            <a:extLst>
              <a:ext uri="{FF2B5EF4-FFF2-40B4-BE49-F238E27FC236}">
                <a16:creationId xmlns:a16="http://schemas.microsoft.com/office/drawing/2014/main" id="{EC8C3998-1CAD-6E07-4363-9478EC15CB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856322"/>
              </p:ext>
            </p:extLst>
          </p:nvPr>
        </p:nvGraphicFramePr>
        <p:xfrm>
          <a:off x="750321" y="2435401"/>
          <a:ext cx="2611438" cy="2278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6" name="Textfeld 25">
            <a:extLst>
              <a:ext uri="{FF2B5EF4-FFF2-40B4-BE49-F238E27FC236}">
                <a16:creationId xmlns:a16="http://schemas.microsoft.com/office/drawing/2014/main" id="{DC296DFA-9BD2-49A2-7BD7-145C687912C0}"/>
              </a:ext>
            </a:extLst>
          </p:cNvPr>
          <p:cNvSpPr txBox="1"/>
          <p:nvPr/>
        </p:nvSpPr>
        <p:spPr>
          <a:xfrm>
            <a:off x="1072814" y="2489663"/>
            <a:ext cx="1966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solidFill>
                  <a:srgbClr val="422100"/>
                </a:solidFill>
              </a:rPr>
              <a:t>Distribution Living Space</a:t>
            </a:r>
          </a:p>
        </p:txBody>
      </p:sp>
    </p:spTree>
    <p:extLst>
      <p:ext uri="{BB962C8B-B14F-4D97-AF65-F5344CB8AC3E}">
        <p14:creationId xmlns:p14="http://schemas.microsoft.com/office/powerpoint/2010/main" val="4289572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3F2EAF8F-2DD0-1EAF-15AB-C0D02F9838B2}"/>
              </a:ext>
            </a:extLst>
          </p:cNvPr>
          <p:cNvSpPr txBox="1"/>
          <p:nvPr/>
        </p:nvSpPr>
        <p:spPr>
          <a:xfrm>
            <a:off x="551444" y="551727"/>
            <a:ext cx="60263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│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3. THE SHIFT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CE81919-EE44-0F16-9B17-8A9F6FD54F14}"/>
              </a:ext>
            </a:extLst>
          </p:cNvPr>
          <p:cNvSpPr txBox="1"/>
          <p:nvPr/>
        </p:nvSpPr>
        <p:spPr>
          <a:xfrm>
            <a:off x="750320" y="1196586"/>
            <a:ext cx="10723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>
                    <a:lumMod val="75000"/>
                  </a:prstClr>
                </a:solidFill>
                <a:latin typeface="Aptos" panose="02110004020202020204"/>
              </a:rPr>
              <a:t>The introducing of the </a:t>
            </a:r>
            <a:r>
              <a:rPr lang="en-US" sz="1400" dirty="0" err="1">
                <a:solidFill>
                  <a:prstClr val="white">
                    <a:lumMod val="75000"/>
                  </a:prstClr>
                </a:solidFill>
                <a:latin typeface="Aptos" panose="02110004020202020204"/>
              </a:rPr>
              <a:t>Wbh</a:t>
            </a:r>
            <a:r>
              <a:rPr lang="en-US" sz="1400" dirty="0">
                <a:solidFill>
                  <a:prstClr val="white">
                    <a:lumMod val="75000"/>
                  </a:prstClr>
                </a:solidFill>
                <a:latin typeface="Aptos" panose="02110004020202020204"/>
              </a:rPr>
              <a:t> and WWS 2024 means regulatory earnings risk and energy-related return opportunities.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3" name="Diagramm 12">
            <a:extLst>
              <a:ext uri="{FF2B5EF4-FFF2-40B4-BE49-F238E27FC236}">
                <a16:creationId xmlns:a16="http://schemas.microsoft.com/office/drawing/2014/main" id="{1414EA76-6010-F081-F48B-98CE08F07183}"/>
              </a:ext>
            </a:extLst>
          </p:cNvPr>
          <p:cNvGraphicFramePr>
            <a:graphicFrameLocks/>
          </p:cNvGraphicFramePr>
          <p:nvPr/>
        </p:nvGraphicFramePr>
        <p:xfrm>
          <a:off x="793205" y="2425002"/>
          <a:ext cx="3326374" cy="2278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28BC6792-352F-96A1-1E27-E941DD7C2F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5643249"/>
              </p:ext>
            </p:extLst>
          </p:nvPr>
        </p:nvGraphicFramePr>
        <p:xfrm>
          <a:off x="3431673" y="2425007"/>
          <a:ext cx="5328653" cy="227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echteck 16">
            <a:extLst>
              <a:ext uri="{FF2B5EF4-FFF2-40B4-BE49-F238E27FC236}">
                <a16:creationId xmlns:a16="http://schemas.microsoft.com/office/drawing/2014/main" id="{64A4EB80-62E5-3A44-EB6C-BAA83D6F0179}"/>
              </a:ext>
            </a:extLst>
          </p:cNvPr>
          <p:cNvSpPr/>
          <p:nvPr/>
        </p:nvSpPr>
        <p:spPr>
          <a:xfrm>
            <a:off x="750320" y="2425002"/>
            <a:ext cx="2589522" cy="1101244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33000">
                <a:schemeClr val="bg1">
                  <a:lumMod val="95000"/>
                </a:schemeClr>
              </a:gs>
              <a:gs pos="67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6350">
            <a:solidFill>
              <a:srgbClr val="FF9900"/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4221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Regulatory</a:t>
            </a: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4221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4221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Rent</a:t>
            </a: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4221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4221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Exposure</a:t>
            </a: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4221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b="1" dirty="0">
                <a:solidFill>
                  <a:srgbClr val="422100"/>
                </a:solidFill>
                <a:latin typeface="Aptos" panose="02110004020202020204"/>
              </a:rPr>
              <a:t>SOCIAAL (&lt; 144 </a:t>
            </a:r>
            <a:r>
              <a:rPr lang="de-DE" sz="900" b="1" dirty="0" err="1">
                <a:solidFill>
                  <a:srgbClr val="422100"/>
                </a:solidFill>
                <a:latin typeface="Aptos" panose="02110004020202020204"/>
              </a:rPr>
              <a:t>points</a:t>
            </a:r>
            <a:r>
              <a:rPr lang="de-DE" sz="900" b="1" dirty="0">
                <a:solidFill>
                  <a:srgbClr val="422100"/>
                </a:solidFill>
                <a:latin typeface="Aptos" panose="02110004020202020204"/>
              </a:rPr>
              <a:t>)</a:t>
            </a:r>
            <a:endParaRPr kumimoji="0" lang="de-DE" sz="900" b="1" i="0" u="none" strike="noStrike" kern="1200" cap="none" spc="0" normalizeH="0" baseline="0" noProof="0" dirty="0">
              <a:ln>
                <a:noFill/>
              </a:ln>
              <a:solidFill>
                <a:srgbClr val="4221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600" b="1" dirty="0">
              <a:solidFill>
                <a:srgbClr val="196B24"/>
              </a:solidFill>
              <a:latin typeface="Aptos" panose="02110004020202020204"/>
            </a:endParaRPr>
          </a:p>
          <a:p>
            <a:pPr algn="ctr"/>
            <a:r>
              <a:rPr lang="de-DE" sz="1600" b="1" dirty="0">
                <a:solidFill>
                  <a:srgbClr val="C00000"/>
                </a:solidFill>
              </a:rPr>
              <a:t>€ 273,362 p.a.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(392 </a:t>
            </a:r>
            <a:r>
              <a:rPr kumimoji="0" lang="de-DE" sz="120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units</a:t>
            </a:r>
            <a:r>
              <a:rPr kumimoji="0" lang="de-DE" sz="12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716F2385-27CF-4356-3406-E1542ECD0B0A}"/>
              </a:ext>
            </a:extLst>
          </p:cNvPr>
          <p:cNvCxnSpPr>
            <a:cxnSpLocks/>
          </p:cNvCxnSpPr>
          <p:nvPr/>
        </p:nvCxnSpPr>
        <p:spPr>
          <a:xfrm>
            <a:off x="705002" y="5601380"/>
            <a:ext cx="10781996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CD0A17E7-19CB-9995-98B3-8B8967584065}"/>
              </a:ext>
            </a:extLst>
          </p:cNvPr>
          <p:cNvSpPr/>
          <p:nvPr/>
        </p:nvSpPr>
        <p:spPr>
          <a:xfrm>
            <a:off x="750319" y="3602138"/>
            <a:ext cx="2589522" cy="1101244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33000">
                <a:schemeClr val="bg1">
                  <a:lumMod val="95000"/>
                </a:schemeClr>
              </a:gs>
              <a:gs pos="67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6350">
            <a:solidFill>
              <a:srgbClr val="FF9900"/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4221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Regulatory</a:t>
            </a: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4221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4221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Rent</a:t>
            </a: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4221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4221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Exposure</a:t>
            </a:r>
            <a:endParaRPr kumimoji="0" lang="de-DE" sz="1200" b="1" i="0" u="none" strike="noStrike" kern="1200" cap="none" spc="0" normalizeH="0" baseline="0" noProof="0" dirty="0">
              <a:ln>
                <a:noFill/>
              </a:ln>
              <a:solidFill>
                <a:srgbClr val="4221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b="1" dirty="0">
                <a:solidFill>
                  <a:srgbClr val="422100"/>
                </a:solidFill>
                <a:latin typeface="Aptos" panose="02110004020202020204"/>
              </a:rPr>
              <a:t>MIDDENHUUR (144 - 186 </a:t>
            </a:r>
            <a:r>
              <a:rPr lang="de-DE" sz="900" b="1" dirty="0" err="1">
                <a:solidFill>
                  <a:srgbClr val="422100"/>
                </a:solidFill>
                <a:latin typeface="Aptos" panose="02110004020202020204"/>
              </a:rPr>
              <a:t>points</a:t>
            </a:r>
            <a:r>
              <a:rPr lang="de-DE" sz="900" b="1" dirty="0">
                <a:solidFill>
                  <a:srgbClr val="422100"/>
                </a:solidFill>
                <a:latin typeface="Aptos" panose="02110004020202020204"/>
              </a:rPr>
              <a:t>)</a:t>
            </a:r>
            <a:endParaRPr kumimoji="0" lang="de-DE" sz="900" b="1" i="0" u="none" strike="noStrike" kern="1200" cap="none" spc="0" normalizeH="0" baseline="0" noProof="0" dirty="0">
              <a:ln>
                <a:noFill/>
              </a:ln>
              <a:solidFill>
                <a:srgbClr val="4221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600" b="1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algn="ctr"/>
            <a:r>
              <a:rPr lang="de-DE" sz="1600" b="1" dirty="0">
                <a:solidFill>
                  <a:srgbClr val="FF6600"/>
                </a:solidFill>
              </a:rPr>
              <a:t>€ 184,715 p.a.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" i="0" u="none" strike="noStrike" kern="1200" cap="none" spc="0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(232 </a:t>
            </a:r>
            <a:r>
              <a:rPr kumimoji="0" lang="de-DE" sz="120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units</a:t>
            </a:r>
            <a:r>
              <a:rPr kumimoji="0" lang="de-DE" sz="120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600" b="1" dirty="0">
              <a:solidFill>
                <a:srgbClr val="FF6600"/>
              </a:solidFill>
              <a:latin typeface="Aptos" panose="02110004020202020204"/>
            </a:endParaRPr>
          </a:p>
        </p:txBody>
      </p:sp>
      <p:graphicFrame>
        <p:nvGraphicFramePr>
          <p:cNvPr id="22" name="Diagramm 21">
            <a:extLst>
              <a:ext uri="{FF2B5EF4-FFF2-40B4-BE49-F238E27FC236}">
                <a16:creationId xmlns:a16="http://schemas.microsoft.com/office/drawing/2014/main" id="{C41F60A4-576E-3A71-BB19-4A9E4E8F9E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7649784"/>
              </p:ext>
            </p:extLst>
          </p:nvPr>
        </p:nvGraphicFramePr>
        <p:xfrm>
          <a:off x="8852158" y="2440306"/>
          <a:ext cx="2589522" cy="2278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feld 23">
            <a:extLst>
              <a:ext uri="{FF2B5EF4-FFF2-40B4-BE49-F238E27FC236}">
                <a16:creationId xmlns:a16="http://schemas.microsoft.com/office/drawing/2014/main" id="{871248B5-1384-A35E-6922-6BD25423683D}"/>
              </a:ext>
            </a:extLst>
          </p:cNvPr>
          <p:cNvSpPr txBox="1"/>
          <p:nvPr/>
        </p:nvSpPr>
        <p:spPr>
          <a:xfrm>
            <a:off x="8943974" y="2477817"/>
            <a:ext cx="24548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solidFill>
                  <a:srgbClr val="4221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WWS Points Impact</a:t>
            </a:r>
          </a:p>
          <a:p>
            <a:pPr algn="ctr"/>
            <a:r>
              <a:rPr lang="de-DE" sz="900" b="1" dirty="0">
                <a:solidFill>
                  <a:srgbClr val="4221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(Total Portfolio)</a:t>
            </a:r>
            <a:endParaRPr lang="de-DE" sz="900" b="1" dirty="0">
              <a:solidFill>
                <a:srgbClr val="4221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526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3F2EAF8F-2DD0-1EAF-15AB-C0D02F9838B2}"/>
              </a:ext>
            </a:extLst>
          </p:cNvPr>
          <p:cNvSpPr txBox="1"/>
          <p:nvPr/>
        </p:nvSpPr>
        <p:spPr>
          <a:xfrm>
            <a:off x="551444" y="551727"/>
            <a:ext cx="111686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│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4. THE CONCLUSION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1702149-9B56-B775-22E2-0F180174C200}"/>
              </a:ext>
            </a:extLst>
          </p:cNvPr>
          <p:cNvSpPr txBox="1"/>
          <p:nvPr/>
        </p:nvSpPr>
        <p:spPr>
          <a:xfrm>
            <a:off x="750320" y="1196586"/>
            <a:ext cx="10723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>
                    <a:lumMod val="75000"/>
                  </a:prstClr>
                </a:solidFill>
                <a:latin typeface="Aptos" panose="02110004020202020204"/>
              </a:rPr>
              <a:t>The </a:t>
            </a:r>
            <a:r>
              <a:rPr lang="en-US" sz="1400" b="1" dirty="0">
                <a:solidFill>
                  <a:schemeClr val="bg1"/>
                </a:solidFill>
                <a:latin typeface="Aptos" panose="02110004020202020204"/>
              </a:rPr>
              <a:t>important regulatory realities</a:t>
            </a:r>
            <a:r>
              <a:rPr lang="en-US" sz="1400" dirty="0">
                <a:solidFill>
                  <a:prstClr val="white">
                    <a:lumMod val="75000"/>
                  </a:prstClr>
                </a:solidFill>
                <a:latin typeface="Aptos" panose="02110004020202020204"/>
              </a:rPr>
              <a:t> of the WWS 2024: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68D570F-A588-C780-128E-766EF31E3B11}"/>
              </a:ext>
            </a:extLst>
          </p:cNvPr>
          <p:cNvSpPr txBox="1"/>
          <p:nvPr/>
        </p:nvSpPr>
        <p:spPr>
          <a:xfrm>
            <a:off x="750319" y="1659052"/>
            <a:ext cx="10781996" cy="1015663"/>
          </a:xfrm>
          <a:prstGeom prst="rect">
            <a:avLst/>
          </a:prstGeom>
          <a:solidFill>
            <a:srgbClr val="180C00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Segment </a:t>
            </a:r>
            <a:r>
              <a:rPr lang="en-US" sz="1200" b="1" dirty="0">
                <a:solidFill>
                  <a:schemeClr val="bg1"/>
                </a:solidFill>
              </a:rPr>
              <a:t>SOCIAAL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(&lt; 144 pts)</a:t>
            </a:r>
          </a:p>
          <a:p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b="1" dirty="0">
                <a:solidFill>
                  <a:srgbClr val="FFC000"/>
                </a:solidFill>
              </a:rPr>
              <a:t>     </a:t>
            </a:r>
            <a:r>
              <a:rPr lang="de-DE" sz="1200" b="1" dirty="0">
                <a:solidFill>
                  <a:srgbClr val="FFC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„</a:t>
            </a:r>
            <a:r>
              <a:rPr lang="en-US" sz="1200" b="1" dirty="0">
                <a:solidFill>
                  <a:srgbClr val="FFC000"/>
                </a:solidFill>
              </a:rPr>
              <a:t>The immediate cash flow shock.”</a:t>
            </a:r>
          </a:p>
          <a:p>
            <a:endParaRPr lang="en-US" sz="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    </a:t>
            </a:r>
            <a:r>
              <a:rPr lang="en-US" sz="1200" b="1" dirty="0">
                <a:solidFill>
                  <a:schemeClr val="bg1">
                    <a:lumMod val="75000"/>
                  </a:schemeClr>
                </a:solidFill>
              </a:rPr>
              <a:t>LAW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Strict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proactive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rent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reduction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mandate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non-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compliant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units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after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July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1, 2025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transition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deadline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grandfathering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r>
              <a:rPr lang="en-US" sz="1200" dirty="0">
                <a:solidFill>
                  <a:srgbClr val="FFC000"/>
                </a:solidFill>
              </a:rPr>
              <a:t>     </a:t>
            </a:r>
            <a:r>
              <a:rPr lang="en-US" sz="1200" b="1" dirty="0">
                <a:solidFill>
                  <a:schemeClr val="bg1"/>
                </a:solidFill>
              </a:rPr>
              <a:t>PORTFOLIO IMPACT: </a:t>
            </a:r>
            <a:r>
              <a:rPr lang="de-DE" sz="12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Immediate, irreversible </a:t>
            </a:r>
            <a:r>
              <a:rPr lang="de-DE" sz="12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revenue</a:t>
            </a:r>
            <a:r>
              <a:rPr lang="de-DE" sz="12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drop</a:t>
            </a:r>
            <a:r>
              <a:rPr lang="de-DE" sz="12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within</a:t>
            </a:r>
            <a:r>
              <a:rPr lang="de-DE" sz="12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active</a:t>
            </a:r>
            <a:r>
              <a:rPr lang="de-DE" sz="12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leases</a:t>
            </a:r>
            <a:r>
              <a:rPr lang="de-DE" sz="12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High </a:t>
            </a:r>
            <a:r>
              <a:rPr lang="de-DE" sz="12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risk</a:t>
            </a:r>
            <a:r>
              <a:rPr lang="de-DE" sz="12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de-DE" sz="12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tenant</a:t>
            </a:r>
            <a:r>
              <a:rPr lang="de-DE" sz="12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lawsuits</a:t>
            </a:r>
            <a:r>
              <a:rPr lang="de-DE" sz="12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12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</a:t>
            </a:r>
            <a:r>
              <a:rPr lang="de-DE" sz="12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municipal </a:t>
            </a:r>
            <a:r>
              <a:rPr lang="de-DE" sz="12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fines</a:t>
            </a:r>
            <a:r>
              <a:rPr lang="de-DE" sz="12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5A0F661-1649-5B20-33D5-33483DB92D66}"/>
              </a:ext>
            </a:extLst>
          </p:cNvPr>
          <p:cNvSpPr txBox="1"/>
          <p:nvPr/>
        </p:nvSpPr>
        <p:spPr>
          <a:xfrm>
            <a:off x="750319" y="2835280"/>
            <a:ext cx="10881242" cy="1015663"/>
          </a:xfrm>
          <a:prstGeom prst="rect">
            <a:avLst/>
          </a:prstGeom>
          <a:solidFill>
            <a:srgbClr val="180C00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Segment </a:t>
            </a:r>
            <a:r>
              <a:rPr lang="en-US" sz="1200" b="1" dirty="0">
                <a:solidFill>
                  <a:schemeClr val="bg1"/>
                </a:solidFill>
              </a:rPr>
              <a:t>MIDDENHUUR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(144 - 186 pts)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de-DE" sz="1200" b="1" dirty="0">
                <a:solidFill>
                  <a:srgbClr val="FFC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„</a:t>
            </a:r>
            <a:r>
              <a:rPr lang="en-US" sz="1200" b="1" dirty="0">
                <a:solidFill>
                  <a:srgbClr val="FFC000"/>
                </a:solidFill>
              </a:rPr>
              <a:t>The ticking time bomb.”</a:t>
            </a:r>
          </a:p>
          <a:p>
            <a:endParaRPr lang="en-US" sz="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b="1" dirty="0">
                <a:solidFill>
                  <a:schemeClr val="bg1">
                    <a:lumMod val="75000"/>
                  </a:schemeClr>
                </a:solidFill>
              </a:rPr>
              <a:t>     LAW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Existing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pre-July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2024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leases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grandfathered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i="1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until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tenant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turnover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mutatie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occurs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maintenance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defects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force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inspection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rgbClr val="FFC000"/>
                </a:solidFill>
              </a:rPr>
              <a:t>     </a:t>
            </a:r>
            <a:r>
              <a:rPr lang="en-US" sz="1200" b="1" dirty="0">
                <a:solidFill>
                  <a:schemeClr val="bg1"/>
                </a:solidFill>
              </a:rPr>
              <a:t>PORTFOLIO IMPACT</a:t>
            </a:r>
            <a:r>
              <a:rPr lang="en-US" sz="1200" dirty="0">
                <a:solidFill>
                  <a:schemeClr val="bg1"/>
                </a:solidFill>
              </a:rPr>
              <a:t>: Staggered "revenue freeze." The financial downside – initial rents capped at max. €1,157.95 – materializes progressively with each vacancy.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B65A124-85D9-ABFB-6A95-61974F471A1A}"/>
              </a:ext>
            </a:extLst>
          </p:cNvPr>
          <p:cNvCxnSpPr>
            <a:cxnSpLocks/>
          </p:cNvCxnSpPr>
          <p:nvPr/>
        </p:nvCxnSpPr>
        <p:spPr>
          <a:xfrm>
            <a:off x="783660" y="2748181"/>
            <a:ext cx="10690585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5C6EB25F-1E37-EE9B-AE5B-D685E7398DFA}"/>
              </a:ext>
            </a:extLst>
          </p:cNvPr>
          <p:cNvSpPr txBox="1"/>
          <p:nvPr/>
        </p:nvSpPr>
        <p:spPr>
          <a:xfrm>
            <a:off x="790455" y="4011508"/>
            <a:ext cx="10881242" cy="1015663"/>
          </a:xfrm>
          <a:prstGeom prst="rect">
            <a:avLst/>
          </a:prstGeom>
          <a:solidFill>
            <a:srgbClr val="180C00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Segment </a:t>
            </a:r>
            <a:r>
              <a:rPr lang="en-US" sz="1200" b="1" dirty="0">
                <a:solidFill>
                  <a:schemeClr val="bg1"/>
                </a:solidFill>
              </a:rPr>
              <a:t>VRIJ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≥ 187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pts)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de-DE" sz="1200" b="1" dirty="0">
                <a:solidFill>
                  <a:srgbClr val="FFC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„</a:t>
            </a:r>
            <a:r>
              <a:rPr lang="en-US" sz="1200" b="1" dirty="0">
                <a:solidFill>
                  <a:srgbClr val="FFC000"/>
                </a:solidFill>
              </a:rPr>
              <a:t>The ‘all-or-nothing’ game.”</a:t>
            </a:r>
          </a:p>
          <a:p>
            <a:endParaRPr lang="en-US" sz="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b="1" dirty="0">
                <a:solidFill>
                  <a:schemeClr val="bg1">
                    <a:lumMod val="75000"/>
                  </a:schemeClr>
                </a:solidFill>
              </a:rPr>
              <a:t>     LAW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Initial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rents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remain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fully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deregulated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Higher WWS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grid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values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serve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purely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safety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net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against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measurement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errors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„</a:t>
            </a:r>
            <a:r>
              <a:rPr lang="de-DE" sz="12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Huurcommissie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de-DE" sz="12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rgbClr val="FFC000"/>
                </a:solidFill>
              </a:rPr>
              <a:t>     </a:t>
            </a:r>
            <a:r>
              <a:rPr lang="en-US" sz="1200" b="1" dirty="0">
                <a:solidFill>
                  <a:schemeClr val="bg1"/>
                </a:solidFill>
              </a:rPr>
              <a:t>PORTFOLIO IMPACT</a:t>
            </a:r>
            <a:r>
              <a:rPr lang="en-US" sz="1200" dirty="0">
                <a:solidFill>
                  <a:schemeClr val="bg1"/>
                </a:solidFill>
              </a:rPr>
              <a:t>: 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High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volatility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at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regulatory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cliff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Dropping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just 1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point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can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trigger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retroactive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cap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Data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precision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directly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dictates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asset</a:t>
            </a:r>
            <a:r>
              <a:rPr lang="de-DE" sz="12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200" dirty="0" err="1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5E250924-F67C-0480-034E-720BAA5C1D91}"/>
              </a:ext>
            </a:extLst>
          </p:cNvPr>
          <p:cNvCxnSpPr>
            <a:cxnSpLocks/>
          </p:cNvCxnSpPr>
          <p:nvPr/>
        </p:nvCxnSpPr>
        <p:spPr>
          <a:xfrm>
            <a:off x="790455" y="3901706"/>
            <a:ext cx="10690585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471742A0-811D-7C18-4870-7E70190828EB}"/>
              </a:ext>
            </a:extLst>
          </p:cNvPr>
          <p:cNvCxnSpPr>
            <a:cxnSpLocks/>
          </p:cNvCxnSpPr>
          <p:nvPr/>
        </p:nvCxnSpPr>
        <p:spPr>
          <a:xfrm>
            <a:off x="790455" y="5128510"/>
            <a:ext cx="10690585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3B631D25-71C3-0EA3-FD93-C3088F95EB27}"/>
              </a:ext>
            </a:extLst>
          </p:cNvPr>
          <p:cNvSpPr txBox="1"/>
          <p:nvPr/>
        </p:nvSpPr>
        <p:spPr>
          <a:xfrm>
            <a:off x="606503" y="5535974"/>
            <a:ext cx="11249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n w="3175">
                  <a:noFill/>
                </a:ln>
                <a:solidFill>
                  <a:srgbClr val="FFC000"/>
                </a:solidFill>
                <a:effectLst/>
              </a:rPr>
              <a:t>The WWS 2024 shifts the economic value within portfolios. For corporations and investors, this means: </a:t>
            </a:r>
          </a:p>
          <a:p>
            <a:r>
              <a:rPr lang="en-US" sz="1500" b="1" dirty="0">
                <a:ln w="3175">
                  <a:noFill/>
                </a:ln>
                <a:solidFill>
                  <a:srgbClr val="FFC000"/>
                </a:solidFill>
                <a:effectLst/>
              </a:rPr>
              <a:t>Sustainability, revaluation, and segment-based management will be crucial for managing risks and </a:t>
            </a:r>
            <a:r>
              <a:rPr lang="en-US" sz="1500" b="1" dirty="0" err="1">
                <a:ln w="3175">
                  <a:noFill/>
                </a:ln>
                <a:solidFill>
                  <a:srgbClr val="FFC000"/>
                </a:solidFill>
                <a:effectLst/>
              </a:rPr>
              <a:t>capitalising</a:t>
            </a:r>
            <a:r>
              <a:rPr lang="en-US" sz="1500" b="1" dirty="0">
                <a:ln w="3175">
                  <a:noFill/>
                </a:ln>
                <a:solidFill>
                  <a:srgbClr val="FFC000"/>
                </a:solidFill>
                <a:effectLst/>
              </a:rPr>
              <a:t> on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4001518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D872F9BD-6844-735E-5BBE-DBF257113723}"/>
              </a:ext>
            </a:extLst>
          </p:cNvPr>
          <p:cNvSpPr txBox="1"/>
          <p:nvPr/>
        </p:nvSpPr>
        <p:spPr>
          <a:xfrm>
            <a:off x="823452" y="819437"/>
            <a:ext cx="1054509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4800" b="1" dirty="0">
                <a:solidFill>
                  <a:schemeClr val="bg1">
                    <a:lumMod val="75000"/>
                  </a:schemeClr>
                </a:solidFill>
              </a:rPr>
              <a:t>QUESTIONS?</a:t>
            </a:r>
          </a:p>
          <a:p>
            <a:pPr algn="ctr"/>
            <a:endParaRPr lang="de-DE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endParaRPr lang="de-DE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endParaRPr lang="de-DE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Ready for a dialogue about data-driven asset management</a:t>
            </a:r>
            <a:r>
              <a:rPr lang="de-DE" sz="24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algn="ctr"/>
            <a:endParaRPr lang="de-DE" sz="2400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endParaRPr lang="de-DE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endParaRPr lang="de-DE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endParaRPr lang="de-DE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r>
              <a:rPr lang="de-DE" sz="1200" dirty="0">
                <a:solidFill>
                  <a:schemeClr val="bg1"/>
                </a:solidFill>
              </a:rPr>
              <a:t>CONTACT VIA LINKEDIN </a:t>
            </a:r>
          </a:p>
          <a:p>
            <a:pPr algn="ctr"/>
            <a:endParaRPr lang="de-DE" sz="1200" dirty="0">
              <a:solidFill>
                <a:schemeClr val="bg1"/>
              </a:solidFill>
            </a:endParaRPr>
          </a:p>
          <a:p>
            <a:pPr algn="ctr"/>
            <a:r>
              <a:rPr lang="de-DE" sz="1200" dirty="0">
                <a:solidFill>
                  <a:srgbClr val="FFC000"/>
                </a:solidFill>
              </a:rPr>
              <a:t>Portfolio </a:t>
            </a:r>
            <a:r>
              <a:rPr lang="de-DE" sz="1200" dirty="0" err="1">
                <a:solidFill>
                  <a:srgbClr val="FFC000"/>
                </a:solidFill>
              </a:rPr>
              <a:t>Strategy</a:t>
            </a:r>
            <a:r>
              <a:rPr lang="de-DE" sz="1200" dirty="0">
                <a:solidFill>
                  <a:srgbClr val="FFC000"/>
                </a:solidFill>
              </a:rPr>
              <a:t> | Python Simulation | ESG Transformation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AD340831-6A9E-0746-FA1D-83E9BB93FEFD}"/>
              </a:ext>
            </a:extLst>
          </p:cNvPr>
          <p:cNvCxnSpPr>
            <a:cxnSpLocks/>
          </p:cNvCxnSpPr>
          <p:nvPr/>
        </p:nvCxnSpPr>
        <p:spPr>
          <a:xfrm>
            <a:off x="694116" y="5057094"/>
            <a:ext cx="10781996" cy="0"/>
          </a:xfrm>
          <a:prstGeom prst="line">
            <a:avLst/>
          </a:prstGeom>
          <a:ln>
            <a:solidFill>
              <a:srgbClr val="FFC000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184D67C5-2FEA-0A08-5EBD-E051792B1574}"/>
              </a:ext>
            </a:extLst>
          </p:cNvPr>
          <p:cNvSpPr txBox="1"/>
          <p:nvPr/>
        </p:nvSpPr>
        <p:spPr>
          <a:xfrm>
            <a:off x="823452" y="5176789"/>
            <a:ext cx="10545096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LEGAL DISCLAIMER &amp; METHODOLOGICAL NOTES</a:t>
            </a:r>
          </a:p>
          <a:p>
            <a:r>
              <a:rPr lang="de-DE" sz="8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analysis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underlying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portfolio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simulation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have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been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developed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educational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methodological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and professional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discussion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de-DE" sz="4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calculations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based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simulated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fictitious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structures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designed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reflect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core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technical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mechanisms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Dutch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laws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regulations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Although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all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regulatory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formulas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programming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logic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have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been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researched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implemented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utmost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care,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does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not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constitute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formal legal,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tax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financial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advice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sz="400" kern="100" dirty="0">
              <a:solidFill>
                <a:schemeClr val="bg1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Real-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world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portfolio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outcomes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depend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heavily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specific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asset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-level variables,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including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local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WOZ-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valuations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municipal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enforcement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policies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and individual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tenancy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agreements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asset-specific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investment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strategies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compliance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audits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always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consult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certified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Dutch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housing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law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expert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legal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counsel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© 2026 [Stefan Kermann]. All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rights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reserved</a:t>
            </a:r>
            <a:r>
              <a:rPr lang="de-DE" sz="900" kern="100" dirty="0">
                <a:solidFill>
                  <a:schemeClr val="bg1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456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934</Words>
  <Application>Microsoft Office PowerPoint</Application>
  <PresentationFormat>Breitbild</PresentationFormat>
  <Paragraphs>160</Paragraphs>
  <Slides>7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Kermann</dc:creator>
  <cp:lastModifiedBy>Stefan Kermann</cp:lastModifiedBy>
  <cp:revision>113</cp:revision>
  <dcterms:created xsi:type="dcterms:W3CDTF">2026-05-13T12:55:34Z</dcterms:created>
  <dcterms:modified xsi:type="dcterms:W3CDTF">2026-05-20T08:34:28Z</dcterms:modified>
</cp:coreProperties>
</file>